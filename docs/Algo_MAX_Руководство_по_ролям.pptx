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212080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66928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94360"/>
            <a:ext cx="53035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694944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01952"/>
            <a:ext cx="4005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Руководство</a:t>
            </a:r>
            <a:br/>
            <a:r>
              <a:rPr sz="3400" b="1">
                <a:solidFill>
                  <a:srgbClr val="FFFFFF"/>
                </a:solidFill>
                <a:latin typeface="Arial"/>
              </a:rPr>
              <a:t>пользователя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310128"/>
            <a:ext cx="38862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DFFC"/>
                </a:solidFill>
                <a:latin typeface="Arial"/>
              </a:rPr>
              <a:t>Подробные сценарии для учеников, родителей и сотрудников школы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5266944"/>
            <a:ext cx="2980944" cy="43891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85816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1172F"/>
                </a:solidFill>
                <a:latin typeface="Arial"/>
              </a:rPr>
              <a:t>Редактируемая презентация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5961888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Версия 3 · август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4688" y="548640"/>
            <a:ext cx="6181344" cy="576072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-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1271016"/>
            <a:ext cx="5897880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2160" y="4910328"/>
            <a:ext cx="544068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52160" y="491032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8" y="5038344"/>
            <a:ext cx="5111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Один сервис для всей школы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5330952"/>
            <a:ext cx="5111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Баланс и награды, магазин, заказы, ученики, рассылки и управление филиалом.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ОБЩИЙ ПОРЯДОК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войти и начать работу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8288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183794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1810512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бота MAX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103120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Перейдите по персональной ссылке от школы или откройте уже подключенного бота.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" y="27797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27889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761488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Завершите привязку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054096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Родитель подтверждает связь с детьми. Сотрудник получает роль по приглашению школы.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" y="373075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73989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712464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Нажмите кнопку приложения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" y="4005072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Откроется кабинет с разделами, разрешенными для вашей роли.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663440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956048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Убедитесь, что указаны верный ребенок, город и рабочая роль.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5394960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19933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Навигация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2578608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 компьютере разделы находятся слева.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3108960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 телефоне основные разделы расположены снизу.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528816" y="3712463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983" y="3639311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Остальные пункты открываются через «Еще».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528816" y="424281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4169663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Раздел «Помощь» пока содержит страницу «Скоро...».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5468112"/>
            <a:ext cx="5394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5468112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5596128"/>
            <a:ext cx="5065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Важно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888736"/>
            <a:ext cx="5065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 передавайте персональные ссылки и детские QR-коды посторонним.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МАТРИЦА ДОСТУПА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доступно каждой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19476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30428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Баланс, магазин, корзина, свои заказы и история AC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783080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0" y="1783080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51376" y="19476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Родитель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376" y="230428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Дети, отдельные корзины, заказы, баланс и детские QR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783080"/>
            <a:ext cx="3154680" cy="114300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783080"/>
            <a:ext cx="64008" cy="1143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0376" y="19476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0376" y="230428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Свои ученики, начисления, QR и выдача заказов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46120"/>
            <a:ext cx="3154680" cy="114300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246120"/>
            <a:ext cx="64008" cy="1143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34107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376732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Ученики филиала, заказы, начисления и рассылки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3246120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3246120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51376" y="34107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1376" y="376732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Заказы, товары, склады, импорт, связи и сотрудники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3246120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60920" y="3246120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0376" y="34107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0376" y="376732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Операции филиала, сотрудники, роли и настройки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1920" y="4709160"/>
            <a:ext cx="3154680" cy="114300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31920" y="4709160"/>
            <a:ext cx="64008" cy="1143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1376" y="48737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51376" y="523036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Все филиалы, создание партнеров и переключение города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6071616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Сотрудники не имеют личного счета AC и не оформляют покупки.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Личный кабинет и баланс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ученик</a:t>
            </a:r>
          </a:p>
        </p:txBody>
      </p:sp>
      <p:pic>
        <p:nvPicPr>
          <p:cNvPr id="11" name="Picture 10" descr="stud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Смотрите текущий баланс в профиле.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Обновляйте баланс кнопкой рядом с суммой.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Открывайте историю начислений AC.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Проверяйте последние заказы на главной.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Доступ только после привязки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Вход ученика работает через связанную семью и персональный QR-код.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ученик получает награду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товар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магазин, используйте категории, поиск и фильтр наличия.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8833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9747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70048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в корзину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62656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количество, стоимость и остаток AC после оформления.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10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6301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602736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Оформите заказ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895344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Заказ появится в статусе «Зарезервирован» и поступит сотрудникам.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53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562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535424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Следите за статусом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828032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«Заказы» и дождитесь получения у преподавателя или цифрового кода.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1755648"/>
            <a:ext cx="5440680" cy="345643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201168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нужно помнить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492240" y="2660904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3407" y="2587752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Корзина относится к выбранному ребенку.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492240" y="319125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3407" y="3118104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Физический товар выдает сотрудник школы.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492240" y="372160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93407" y="3648456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Цифровой код находится внутри выполненного заказа.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492240" y="42519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3407" y="4178808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По вопросам заказа обратитесь к администратору.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5413248"/>
            <a:ext cx="544068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3368" y="5541264"/>
            <a:ext cx="5111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Статусы обновляются автоматически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3368" y="5833872"/>
            <a:ext cx="5111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После действий сотрудников достаточно обновить раздел заказов.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Семейный кабинет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родитель</a:t>
            </a:r>
          </a:p>
        </p:txBody>
      </p:sp>
      <p:pic>
        <p:nvPicPr>
          <p:cNvPr id="11" name="Picture 10" descr="par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Переключайтесь между связанными детьми.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Смотрите баланс и историю каждого ребенка.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Оформляйте отдельные заказы для выбранного ребенка.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Следите за заказами всей семьи.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Корзины не смешиваются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Выбор ребенка определяет баланс, корзину, историю и получателя заказа.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дать ребенку доступ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ребенка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 главной странице нажмите имя нужного ребенка.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7066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7157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88336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Раскройте его QR-код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80944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Каждый код привязывает только один детский профиль.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66674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639312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Покажите код ребенку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931920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Ребенок сканирует его с другого устройства и открывает бота.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085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6177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590288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882896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входа ребенок видит только свои баланс, корзину и заказы.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1755648"/>
            <a:ext cx="5394960" cy="201168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0299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В QR-коде есть персональная ссылка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560320"/>
            <a:ext cx="45720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687D"/>
                </a:solidFill>
                <a:latin typeface="Arial"/>
              </a:rPr>
              <a:t>Ее можно скопировать или сохранить QR-код как изображение для ребенка.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4041648"/>
            <a:ext cx="5394960" cy="123444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3159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94261"/>
                </a:solidFill>
                <a:latin typeface="Arial"/>
              </a:rPr>
              <a:t>Не пересылайте код посторонним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718304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87D"/>
                </a:solidFill>
                <a:latin typeface="Arial"/>
              </a:rPr>
              <a:t>Если связь отозвана, доступ ребенка прекращается.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5468112"/>
            <a:ext cx="5394960" cy="93268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5468112"/>
            <a:ext cx="54864" cy="93268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596128"/>
            <a:ext cx="5065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Если QR не открывается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888736"/>
            <a:ext cx="5065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Обновите страницу и убедитесь, что родительская связь еще активна.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Ученики, QR-коды и начисления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преподаватель</a:t>
            </a:r>
          </a:p>
        </p:txBody>
      </p:sp>
      <p:pic>
        <p:nvPicPr>
          <p:cNvPr id="11" name="Picture 10" descr="teach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только свои группы и учеников.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Показывает ученикам персональные QR-коды.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Выбирает учеников и начисляет AC.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Открывает историю учеников своих групп.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Массовое начисление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Отметьте учеников, выберите причину и сумму, затем подтвердите одну операцию.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и выдача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37360"/>
            <a:ext cx="54406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47548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видит преподаватель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896112" y="267919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Только заказы своих учеников.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896112" y="3209544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Какие товары и в каком количестве переданы.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896112" y="373989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Площадку и сведения, необходимые для выдачи.</a:t>
            </a:r>
          </a:p>
        </p:txBody>
      </p:sp>
      <p:sp>
        <p:nvSpPr>
          <p:cNvPr id="16" name="Rectangle 15"/>
          <p:cNvSpPr/>
          <p:nvPr/>
        </p:nvSpPr>
        <p:spPr>
          <a:xfrm rot="2700000">
            <a:off x="896112" y="42702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6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Кнопку подтверждения получения заказа.</a:t>
            </a:r>
          </a:p>
        </p:txBody>
      </p:sp>
      <p:sp>
        <p:nvSpPr>
          <p:cNvPr id="18" name="Rectangle 17"/>
          <p:cNvSpPr/>
          <p:nvPr/>
        </p:nvSpPr>
        <p:spPr>
          <a:xfrm rot="2700000">
            <a:off x="896112" y="4800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Кнопку передачи заказа ученику.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84708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56231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28800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Получите комплект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121408"/>
            <a:ext cx="42702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список с фактически переданными товарами.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871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880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852928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получение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3145536"/>
            <a:ext cx="42702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Заказ перейдет в статус «Учитель получил заказ».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895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904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877056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ребенку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4169663"/>
            <a:ext cx="42702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фактической выдачи отметьте заказ как полученный.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5303520"/>
            <a:ext cx="534924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5352" y="530352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431536"/>
            <a:ext cx="50200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подтверждайте заранее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724144"/>
            <a:ext cx="50200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Статус должен соответствовать фактическому движению товара.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Координация филиала и рассылки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куратор</a:t>
            </a:r>
          </a:p>
        </p:txBody>
      </p:sp>
      <p:pic>
        <p:nvPicPr>
          <p:cNvPr id="11" name="Picture 10" descr="curator-broad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Работает с учениками доступного филиала.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Просматривает заказы и начисления.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Фильтрует получателей по формату и площадке.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новости с текстом и изображением.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Проверка перед отправкой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Сначала выберите аудиторию, затем заполните новость и проверьте итоговый вид.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и движение товаров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администратор</a:t>
            </a:r>
          </a:p>
        </p:txBody>
      </p:sp>
      <p:pic>
        <p:nvPicPr>
          <p:cNvPr id="11" name="Picture 10" descr="admin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Назначает склад зарезервированным заказам.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Собирает товары по общему чек-листу.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Распределяет заказы по площадкам и педагогам.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Обновляет статусы после фактических действий.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Отмена заказа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Администратор выбирает причину отмены; списанные AC возвращаются ученику.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Ежедневное управление филиалом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136392" cy="157276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57276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95681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Ученики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39572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Поиск, карточка, статус, дата рождения, баланс и история изменений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78224" y="1755648"/>
            <a:ext cx="3136392" cy="157276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8224" y="1755648"/>
            <a:ext cx="64008" cy="157276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06824" y="195681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Товары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239572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Создание товара, фотография, цена, коды автовыдачи и остатки по складам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1755648"/>
            <a:ext cx="3136392" cy="157276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89520" y="1755648"/>
            <a:ext cx="64008" cy="157276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195681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Склады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239572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Название, адрес или примечание, остатки и основной склад сотрудника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767328"/>
            <a:ext cx="3136392" cy="157276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767328"/>
            <a:ext cx="64008" cy="157276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96849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Импорт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" y="440740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Загрузка подготовленного XLSX и просмотр результата обработки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78224" y="3767328"/>
            <a:ext cx="3136392" cy="157276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78224" y="3767328"/>
            <a:ext cx="64008" cy="157276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06824" y="396849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Связи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06824" y="440740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Контроль привязок родителей, учеников и сотрудников к MAX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0" y="3767328"/>
            <a:ext cx="3136392" cy="157276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89520" y="3767328"/>
            <a:ext cx="64008" cy="157276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18120" y="396849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Сотрудники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440740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Роли, отзыв доступа и персональные настройки уведомлений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5614416"/>
            <a:ext cx="5422392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83280" y="561441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84448" y="5742431"/>
            <a:ext cx="509320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Порядок действий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6035040"/>
            <a:ext cx="509320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Сначала обновите данные, затем выполняйте операции и проверяйте историю.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Контроль филиала и сотрудников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директор</a:t>
            </a:r>
          </a:p>
        </p:txBody>
      </p:sp>
      <p:pic>
        <p:nvPicPr>
          <p:cNvPr id="11" name="Picture 10" descr="director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операционную сводку своих филиалов.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Контролирует заказы, товары, склады и низкие остатки.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Выдает и отзывает роли сотрудников.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Настраивает уведомления и параметры доступа учеников.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Область ответственности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работает только с назначенными ему городами, филиалами и сотрудниками.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Партнеры, города и общий 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суперадминистратор</a:t>
            </a:r>
          </a:p>
        </p:txBody>
      </p:sp>
      <p:pic>
        <p:nvPicPr>
          <p:cNvPr id="11" name="Picture 10" descr="superadmin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новых партнеров и города.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Переключает рабочий филиал в верхней панели.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Выполняет все административные операции.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Контролирует изоляцию данных между партнерами.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Перед любым изменением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выбранный город: действия применяются к текущему рабочему филиалу.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ОБЩИЙ ПРОЦЕСС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Жизненный цикл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883664"/>
            <a:ext cx="2057400" cy="246888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3" y="2066543"/>
            <a:ext cx="420624" cy="420624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Зарезервирован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создан, склад еще не подтвержден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1883664"/>
            <a:ext cx="2057400" cy="246888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35224" y="2066543"/>
            <a:ext cx="420624" cy="420624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Ожидает доставки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Склад назначен, товар собирают и везут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1883664"/>
            <a:ext cx="2057400" cy="246888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6694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694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Доставлен на площадку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Комплект находится на площадке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7183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34071" y="1883664"/>
            <a:ext cx="2057400" cy="246888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98663" y="2066543"/>
            <a:ext cx="420624" cy="420624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866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866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Учитель получил заказ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8663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Преподаватель принял комплект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18903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65792" y="1883664"/>
            <a:ext cx="2057400" cy="246888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3038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038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Получен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фактически передан ученику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4828032"/>
            <a:ext cx="5303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4828032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" y="4956048"/>
            <a:ext cx="4974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Статус меняют после фактического действия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" y="5248656"/>
            <a:ext cx="4974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Так родители, ученики и сотрудники видят одинаковую картину движения заказа.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72200" y="4828032"/>
            <a:ext cx="5303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4828032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73368" y="4956048"/>
            <a:ext cx="4974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Отмену оформляют сотрудники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3368" y="5248656"/>
            <a:ext cx="4974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Администратор или директор указывает причину; списанные AC возвращаются ученику.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БЫСТРАЯ 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Если что-то не получается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102352" cy="9875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54864" cy="9875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83664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Не открывается приложение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12848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Вернитесь в чат с ботом и снова нажмите кнопку приложения.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1755648"/>
            <a:ext cx="5102352" cy="9875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1755648"/>
            <a:ext cx="54864" cy="9875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883664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Показана неверная роль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212848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Закройте приложение, откройте заново и обратитесь к директору или администратору.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7520"/>
            <a:ext cx="5102352" cy="9875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017520"/>
            <a:ext cx="54864" cy="9875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45536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Не обновился баланс или статус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74720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Нажмите кнопку обновления рядом с балансом или в нужном разделе.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3017520"/>
            <a:ext cx="5102352" cy="9875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3017520"/>
            <a:ext cx="54864" cy="9875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45536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Не виден ученик или группа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выбранный город, роль и актуальность связи ученика с группой.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279392"/>
            <a:ext cx="5102352" cy="9875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279392"/>
            <a:ext cx="54864" cy="9875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407407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QR-код больше не работает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736592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Попросите родителя открыть кабинет и получить актуальный код ребенка.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4279392"/>
            <a:ext cx="5102352" cy="9875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44768" y="4279392"/>
            <a:ext cx="54864" cy="9875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407407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Ошибка повторяется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4736592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Сделайте снимок экрана и укажите роль, раздел и выполненное действие.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833872"/>
            <a:ext cx="11018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Раздел «Помощь» внутри приложения пока готовится.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ЧАСТЬ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Подробное руководство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Пошаговые действия, правила и типовые ситуации для каждой роли.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Общие принципы входа, навигации и обновления данных.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Полный путь ученика и родителя от баланса до получения заказа.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Работа преподавателя с учениками, начислениями и выдачей.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Операции куратора, администратора и директора.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Управление городами и партнерами суперадминистратором.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5166360" y="4937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7528" y="48646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Чек-листы и разбор частых затруднений.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ОБЩАЯ СХЕМА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Из каких частей состоит Algo MAX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Профили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Ученик, родитель и сотрудник входят через MAX и получают только разрешенные разделы.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Астрокоины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Баланс ученика, начисления, ручные корректировки и история операций.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Каталог физических и цифровых наград, отдельные корзины детей и избранное.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Резервирование, назначение склада, сборка, доставка и выдача ученику.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Управление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Ученики, товары, остатки, склады, сотрудники, связи и импорт данных.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Рассылки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Новости для выбранных групп, площадок и форматов занятий.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Единые данные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Изменение баланса, заказа или связи отображается всем ролям, которым доступна эта информация.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ТЕРМИНЫ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Основные понятия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Астрокоины ученика. Используются для покупки наград в магазине.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Партнер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Школа или город с собственными учениками, сотрудниками, товарами и складами.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Площадка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Место проведения занятий. Определяется по группам и используется при доставке.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Связь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Подтвержденное соответствие MAX-аккаунта ученику, родителю или сотруднику.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Резерв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Заказ оформлен, но склад для списания товара еще не назначен.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Автовыдача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Цифровой код автоматически выдается после успешного оформления заказа.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Названия статусов важны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При проверке заказа ориентируйтесь на его текущий статус, а не только на дату создания.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ДОСТУП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Первый вход через MAX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Получите ссылку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Школа отправляет персональную ссылку родителя, ученика или сотрудника.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бота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Перейдите по ссылке в нужном MAX-аккаунте и подтвердите подключение.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Завершите привязку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Родитель связывается с детьми, сотрудник получает назначенную роль.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кабинет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кнопку приложения в основном меню бота.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данные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имя, ребенка, роль и выбранный город до начала работы.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Доступ не появится, если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ссылка уже была использована другим аккаунтом;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роль сотрудника отозвана;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родительская связь удалена;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срок доступа выбывшего ученика завершился.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выбирайте роль вручную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Система показывает только подтвержденные роли и связанные профили.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НАВИГАЦИЯ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Где находятся разделы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На компьютере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Основное меню расположено слева.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Активный раздел выделен фиолетовым.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Рабочий город выбирается в верхней части страницы.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Списки и фильтры рассчитаны на широкую область экрана.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На телефоне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Основные разделы находятся в нижнем меню.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Дополнительные пункты открываются кнопкой «Еще».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Горизонтальные списки можно листать пальцем.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Модальные окна закрываются крестиком в правом верхнем углу.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Возврат к главному экрану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 приложении используйте пункт «Главная», а в боте — кнопку возврата в основное меню.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ОБЩИЕ ДЕЙСТВИЯ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Профиль, город и обновление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Профиль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Показывает активную роль и имя. Сотрудникам личный баланс AC не выводится.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Баланс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 ученика и родителя обновляется кнопкой рядом с суммой 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Ребенок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 родителя выбранный ребенок определяет баланс, корзину, историю и заказы.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Город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Сотрудник выполняет операции только в выбранном и разрешенном ему городе.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Обновить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Перезагружает текущий список после действий другого сотрудника.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Закрыть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Крестик закрывает карточку без изменения данных, если сохранение не выполнялось.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Перед массовой операцией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активного ребенка, город, группу и выбранный фильтр.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Кто отвечает за каждый этап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Выбирают товар и оформляют заказ.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Следят за статусом в разделе «Заказы».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Открывают цифровой код в полученном заказе.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 отмене обращаются к администратору или директору.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Сотрудники школы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Администратор или директор назначает склад.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Ответственный сотрудник собирает и доставляет товар.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Преподаватель подтверждает получение комплекта.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После фактической выдачи заказ отмечается полученным.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Статус меняется после действия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Нельзя подтверждать доставку, получение или выдачу заранее.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РОЛЬ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Ученик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Баланс, магазин, корзина, заказы и история астрокоинов.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Проверка профиля и баланса.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Поиск и выбор награды.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Оформление заказа.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Получение физического или цифрового товара.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Просмотр истории AC.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страница ученика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Пример кабинета ученика</a:t>
            </a:r>
          </a:p>
        </p:txBody>
      </p:sp>
      <p:pic>
        <p:nvPicPr>
          <p:cNvPr id="11" name="Picture 10" descr="stud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имя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профиле должен быть выбран ваш ученик.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Посмотрите баланс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Сумма показывает доступные для покупок AC.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нужный раздел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Магазин, корзина, заказы или история AC.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показан чужой профиль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Закройте кабинет и сообщите школе. Не оформляйте заказ от чужого имени.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Баланс и история астрокоинов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Обновите баланс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кнопку обновления рядом с текущей суммой.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334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4261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1518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«История AC»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07791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списке показаны начисления, списания и возвраты.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12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52043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9300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операцию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85615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Смотрите дату, причину, сумму и итоговое изменение.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8912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982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3708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Сообщите о расхождении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66344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Передайте администратору имя ученика и дату операции.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Какие операции встречаются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начисление преподавателем;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подарок ко дню рождения;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списание при покупке;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возврат после отмены заказа.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История не редактируется учеником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Корректировку выполняет сотрудник с доступом к карточке ученика.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найти товар в магазине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«Магазин»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Каталог показывает доступные награды выбранного города.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Используйте быстрые категории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Категория сразу ограничивает список товаров.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Введите название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Поиск работает по названию и описанию товара.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Настройте фильтры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Можно показать товары в наличии или только избранное.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цену, наличие, описание и способ получения.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Сортировка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сначала рекомендуемые;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сначала дешевые;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сначала дорогие;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по популярности.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Недоступный товар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товара или цифровых кодов нет, кнопка покупки будет отключена.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Физический и цифровой товар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Физическая награда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После заказа сотрудник назначает склад.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Товар собирают и доставляют на площадку.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Преподаватель получает комплект для выдачи.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Заказ завершается после передачи ученику.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Цифровая награда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Для товара заранее загружены уникальные коды.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Код выдается автоматически после покупки.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Он находится внутри карточки полученного заказа.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Код можно скопировать кнопкой рядом с ним.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Цифровой код не приходит отдельным сообщением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Откройте «Заказы» → «Получены» → нужный заказ.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Корзина и оформление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товар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нужное количество в пределах доступного остатка.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корзину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название, количество и стоимость каждой позиции.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расчет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Посмотрите баланс до покупки, сумму списания и остаток.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заказ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желтую кнопку оформления только один раз.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заказы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Убедитесь, что новый заказ появился в списке.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Перед подтверждением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выбран правильный профиль;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количество товара верное;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баланса AC достаточно;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товар действительно нужен.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Отмена через сотрудника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Ученик и родитель не отменяют заказ самостоятельно. Обратитесь к администратору или директору.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проверить и получить заказ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«Заказы»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вкладку с нужным статусом.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334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4261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1518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07791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Посмотрите состав, стоимость и историю изменений.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12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52043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9300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Дождитесь выдачи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85615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Физический товар передает преподаватель или сотрудник школы.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8912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982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3708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завершение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66344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Полученный заказ находится в категории «Получены».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означают статусы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зарезервирован — склад не назначен;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ожидает доставки — товар собирают;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 площадке — товар уже доставлен;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у учителя — комплект принят педагогом.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История показывает фактические этапы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Дата и комментарий под статусом объясняют последнее действие сотрудника.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РОЛЬ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Родитель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Управление профилями детей, отдельными корзинами, заказами и доступом ребенка.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31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Переключение между детьми.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Проверка баланса и истории каждого ребенка.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Покупки от имени выбранного ребенка.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QR-код и ссылка для детского входа.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Контроль заказов семьи.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страница родителя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Пример семейного кабинета</a:t>
            </a:r>
          </a:p>
        </p:txBody>
      </p:sp>
      <p:pic>
        <p:nvPicPr>
          <p:cNvPr id="11" name="Picture 10" descr="par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ребенка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Имя активного ребенка выделяется в переключателе.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данные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Баланс и последние заказы относятся к выбранному ребенку.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Перейдите к действию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магазин, корзину, заказы или историю AC.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Каждый ребенок — отдельный профиль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Корзина, баланс и заказы не объединяются между детьми.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Переключение детей и отдельные корзины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меняется при выборе ребенка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имя получателя заказа;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доступный баланс AC;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содержимое корзины;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история начислений и заказов.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проверить перед покупкой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выделено нужное имя;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баланс относится к этому ребенку;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 корзине нет старых лишних позиций;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стоимость заказа рассчитана верно.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Количество в корзине видно у имени ребенка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Это помогает не смешивать незавершенные покупки нескольких детей.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QR-код и ссылка для входа ребенка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блок QR-кодов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кабинете показаны только связанные с родителем дети.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нужного ребенка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имя и группу над QR-кодом.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доступ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Покажите QR с другого устройства или скопируйте ссылку.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Ребенок открывает MAX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Связь создается только для выбранного детского профиля.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детском кабинете должны быть его имя, баланс и заказы.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Доступ прекращается, если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родитель заблокировал бота;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связь удалена сотрудником;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срок доступа после выбытия закончился;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профиль ребенка архивирован.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открывайте детскую ссылку в аккаунте родителя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Ссылку должен использовать MAX-аккаунт ребенка.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Контроль заказов семьи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Все заказы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Список показывает заказы выбранного ребенка и их текущие статусы.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Поиск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Найдите заказ по номеру, имени ребенка или товару.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Карточка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Откройте состав, стоимость, склад и историю статусов.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Полученные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Завершенные заказы и цифровые коды находятся в этой категории.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Отмененные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 карточке отображается причина отмены и возврат AC.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Вопрос по заказу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Сообщите администратору номер заказа и имя ребенка.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Родитель не меняет рабочие статусы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Назначение склада, доставка, отмена и выдача выполняются сотрудниками школы.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РОЛЬ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Свои ученики, QR-коды, начисления и получение заказов для выдачи.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36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Работа только со своими группами.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Выбор учеников для начисления AC.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Просмотр карточки и истории ученика.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Показ детских QR-кодов.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Получение и выдача заказов.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страница преподавателя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Пример рабочего кабинета</a:t>
            </a:r>
          </a:p>
        </p:txBody>
      </p:sp>
      <p:pic>
        <p:nvPicPr>
          <p:cNvPr id="11" name="Picture 10" descr="teach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Указана роль преподавателя и нужный город.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учеников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Список ограничен назначенными преподавателю группами.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задачу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Начисление AC, QR-коды или заказы учеников.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Нет счета AC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Сотрудник не покупает товары; баланс существует только у детей.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начислить астрокоины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«Начисления»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группу и при необходимости найдите ученика по имени.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Отметьте учеников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Поставьте флажки только тем, кому предназначено начисление.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причину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Стандартная причина автоматически подставляет разрешенную сумму.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сумму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нестандартной ситуации используйте ручную причину и сумму.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количество выбранных учеников перед одной общей операцией.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После начисления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баланс учеников увеличивается;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операция появляется в истории;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 отчете видны педагог и группа;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ошибку исправляет администратор.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повторяйте нажатие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Дождитесь сообщения об успешном начислении и обновления списка.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ученика и детский QR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Группа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Фильтр показывает только группы, доступные текущему преподавателю.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Карточка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Содержит статус, баланс, группу и доступную историю ученика.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История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Показывает изменения состояния и операции AC в разрешенном объеме.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QR-код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Преподаватель может показать код ребенку из своей группы.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Нет родителя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Ребенок увидит инструкцию открыть письмо и подключить родителя.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Поиск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Используйте фамилию, имя или группу для быстрого перехода.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Доступ ограничен группами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Преподаватель не должен видеть учеников других педагогов и филиалов.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и выдача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«Заказы»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Список содержит заказы учеников доступных групп.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комплект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товар, количество и ученика до подтверждения.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получение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«Учитель получил заказ» после фактической передачи.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ученику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Выдайте товар указанному ребенку.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Завершите заказ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Отметьте заказ полученным только после реальной выдачи.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выжимке видно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какие товары приехали;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количество каждой позиции;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для каких учеников заказы;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 какой площадке выдача.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отменяйте заказ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Отмена доступна администратору и директору.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РОЛЬ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Куратор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Контроль учеников, заказов и коммуникаций в разрешенной области филиала.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41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Просмотр доступных учеников и групп.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Контроль заказов и начислений.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Фильтры отчета AC.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Подготовка рассылок.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Работа только в назначенном городе.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Подготовка рассылки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Раздел рассылок</a:t>
            </a:r>
          </a:p>
        </p:txBody>
      </p:sp>
      <p:pic>
        <p:nvPicPr>
          <p:cNvPr id="11" name="Picture 10" descr="curator-broad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аудиторию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Группы, площадки, формат занятий или другой доступный фильтр.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новость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Введите понятный текст и при необходимости добавьте изображение.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получателей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Предварительный расчет показывает размер аудитории.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59168" y="46360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6451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8" y="4617720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Отправьте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4910328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подтверждения просмотрите результат доставки.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отправляйте без предварительного просмотра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текст, изображение, город и выбранные группы.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Контроль начислений и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задайте период;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выберите преподавателя;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выберите группу;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проверьте ученика, причину и сумму.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используйте категории по статусам;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найдите заказ по номеру или ученику;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откройте историю статусов;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передайте проблему администратору.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Куратор не управляет доступами сотрудников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Выдачу и отзыв ролей выполняют директор, администратор в разрешенных пределах или суперадминистратор.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РОЛЬ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Операционная работа с заказами, товарами, складами, учениками и импортом.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44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Назначение склада и комплектация заказов.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Доставка на площадку и передача преподавателю.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Товары, цифровые коды и остатки.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Карточки учеников и корректировки AC.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Импорт и контроль связей.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Раздел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Статусы и выдача</a:t>
            </a:r>
          </a:p>
        </p:txBody>
      </p:sp>
      <p:pic>
        <p:nvPicPr>
          <p:cNvPr id="11" name="Picture 10" descr="admin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категорию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Счетчик показывает количество заказов на каждом этапе.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Используйте поиск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Номер, ученик или товар помогают найти нужную карточку.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заказ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состав, склад, историю и доступное действие.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Рабочие этапы разделены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Назначение склада, сборка и распределение выполняются в отдельных режимах.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Три этапа комплектации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257800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1. Назначить склад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Для зарезервированных заказов выберите склад списания по каждой позиции.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8776" y="1755648"/>
            <a:ext cx="5257800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8776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920240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2. Собрать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331720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Общий чек-лист объединяет одинаковые товары и группирует их по складам.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419856"/>
            <a:ext cx="5257800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584448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3. Распределить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995928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Полностью собранные заказы распределяются по площадкам и преподавателям.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8776" y="3419856"/>
            <a:ext cx="5257800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8776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584448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Обновить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995928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Переход на следующий этап происходит после сохранения и обновления данных.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Флажок сборки — промежуточная отметка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Он помогает комплектовать заказ, но сам по себе не меняет статус до подтверждения действия.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Назначение склада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режим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Перейдите в «Заказы» → «Назначить склад».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334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4261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1518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заказ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07791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товары, количество и доступные остатки.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12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52043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9300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склады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85615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Основной склад сотрудника подставляется заранее, но его можно изменить.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8912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982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3708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66344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Система резервирует остаток и переводит заказ к сборке.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Перед подтверждением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остатка достаточно;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выбран правильный склад;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цифровой товар не требует склада;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 заказе нет ошибочной позиции.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Нет остатка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Измените склад, пополните остаток или отмените заказ с корректной причиной.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Общий чек-лист сборки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«Собрать»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списке только заказы с уже назначенными складами.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Идите по складам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Одинаковые товары объединены в одну строку с общим количеством.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Отмечайте позиции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Флажок фиксирует, что нужное количество физически собрано.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итог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Счетчик должен совпасть с фактическим комплектом.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 этап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подтверждения заказы становятся доступными для распределения.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строке товара видно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название товара;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необходимое количество;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склад, откуда забрать;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прогресс комплектации.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отмечайте отсутствующий товар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Чек-лист должен соответствовать реально собранным позициям.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Распределение и доставка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«Распределить»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Здесь находятся полностью собранные заказы.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Раскройте площадку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Внутри заказы сгруппированы по преподавателям.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маршрут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площадку, педагога, учеников и состав.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Отметьте доставленные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фактически привезенные заказы.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доставку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Статус изменится на «Доставлен на площадку».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После доставки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заказ исчезает из сборки;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преподаватель видит комплект;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ученик видит новый статус;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история сохраняет дату действия.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Обновляйте список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Кнопка обновления подгружает действия других сотрудников и убирает завершенные этапы.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Отмена заказа и возврат 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номер, ученика, состав и текущий статус.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отмену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Команда находится в меню дополнительных действий.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Укажите причину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стандартный вариант или заполните свою причину.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Заказ отменяется, а списанные AC возвращаются ученику.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Причина видна в заказе, возврат — в истории AC.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Причина «Товар закончился»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используйте только при реальном отсутствии;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проверьте остатки всех складов;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при необходимости обнулите неверный остаток;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сообщите ответственному за закупку.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Право отмены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отменяют администратор или директор независимо от этапа.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Товары, остатки и цифровые коды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Создание товара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Название, категория, цена, описание, статус и фотография заполняются одной формой.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Формируется автоматически и не требует ручного ввода.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Остатки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Для физического товара задаются прямо в карточке по выбранным складам.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Цифровой товар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Вместо складов добавляется список уникальных кодов автовыдачи.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Коды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Выданный код становится неактивным, но остается в истории товара.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Массовый импорт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Товары загружаются по подготовленному XLSX-шаблону.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Перед публикацией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изображение, цену, категорию, описание и фактическое наличие.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Склады и остатки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Карточка склада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понятное название;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адрес или примечание;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активный статус;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остатки товаров, хранящихся на складе.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Основной склад сотрудника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назначается один раз;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подставляется при комплектации;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может быть изменен перед подтверждением;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можно переназначить в настройках сотрудника.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Остатки редактируются в товаре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Отдельная вкладка остатков не требуется: склады и количества собраны в карточке товара.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ученика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Основные данные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ФИО, ID ученика, группа, преподаватель, дата рождения и родитель.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Статус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Обучается, выбыл или архив. Изменение сохраняется в истории.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Баланс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Администратор может установить корректное количество AC с указанием причины.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История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Дата импорта, обновления, выбытия, статусы и административные действия.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Связи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Показывает привязанные MAX-аккаунты родителя и ребенка.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Доступ после выбытия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Срок и период заморозки задаются настройками города.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Изменения должны быть объяснимыми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При ручной корректировке статуса или баланса указывайте понятную причину.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Импорт учеников, групп и преподавателей из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Скачайте шаблон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листы «Инструкция» и «Шаблон» либо поддерживаемый лист «Сделки».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город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каждой строке укажите существующий город, доступный директору.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файл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Предпросмотр покажет строки, группы, преподавателей и распределение по городам.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Запустите импорт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Система создаст или обновит учеников в соответствующих филиалах.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Исправьте ошибки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Неизвестный город или отсутствие прав останавливает импорт до записи данных.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До загрузки проверьте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ID учеников;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полные фамилии и имена;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названия и ID групп;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город, преподавателей и родительские связи.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Импорт распределяет данные автоматически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Все города должны быть заранее созданы; лишние листы и столбцы система игнорирует.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РОЛИ 6–7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Директор и суперадминистратор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Управление сотрудниками, городами, партнерами и общими настройками.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55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Контроль операционной работы филиала.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Выдача и отзыв ролей сотрудников.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Настройка уведомлений.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Управление несколькими городами директора.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Создание партнеров суперадминистратором.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Управление сотрудниками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Сотрудники и роли</a:t>
            </a:r>
          </a:p>
        </p:txBody>
      </p:sp>
      <p:pic>
        <p:nvPicPr>
          <p:cNvPr id="11" name="Picture 10" descr="director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Создайте приглашение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«Пригласить сотрудника» и выберите разрешенную роль.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Отправьте ссылку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Ссылка действует семь дней и срабатывает только один раз.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привязку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перехода сотрудник сразу появится в активном списке.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59168" y="46360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6451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8" y="4617720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Управляйте доступом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4910328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Настройте уведомления либо отзовите роль при необходимости.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Директор работает со своими сотрудниками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приглашает администратора, куратора или преподавателя только в выбранный город.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Роли сотрудников и уведомления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можно назначать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администраторов филиала;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кураторов;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преподавателей;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основной склад сотрудника.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Какие уведомления настраиваются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новые и отмененные заказы;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низкие остатки и цифровые коды;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доставка и передача заказов;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результаты рассылок.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Отзыв роли прекращает рабочий доступ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После отзыва сотрудник больше не должен видеть административные разделы города.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Контроль филиала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Проверяйте очередь назначения склада, сборку, доставку и выдачу.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Остатки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Контролируйте наличие физических товаров и запас цифровых кодов.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Фильтруйте отчет по периоду, преподавателю и группе.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Следите за статусами, балансом, связями и датами обновления.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Сотрудники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Проверяйте активные роли и персональные уведомления.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Рассылки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Контролируйте аудиторию, содержание и результат доставки.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Несколько городов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Перед операцией директор выбирает нужный город из списка назначенных ему партнеров.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Партнеры и города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Общее управление</a:t>
            </a:r>
          </a:p>
        </p:txBody>
      </p:sp>
      <p:pic>
        <p:nvPicPr>
          <p:cNvPr id="11" name="Picture 10" descr="superadmin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город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Текущий рабочий город показан в верхнем переключателе.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данные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Ученики, товары и сотрудники должны относиться к выбранному партнеру.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Создайте партнера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Заполните название, технический идентификатор и основные настройки.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59168" y="46360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6451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8" y="4617720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Назначьте директора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4910328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Свяжите директора с одним или несколькими разрешенными городами.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Изоляция партнеров обязательна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и сотрудники не должны видеть чужие города, группы, заказы или товары.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настраивается на уровне города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Данные и доступ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директора и сотрудники;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ученики, группы и связи;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срок доступа после выбытия;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летний период заморозки срока.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Операционные настройки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причины и суммы начислений;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товары, склады и остатки;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площадки и правила рассылок;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получатели служебных уведомлений.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Проверяйте выбранный город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Создание и изменение данных всегда применяется к текущему рабочему партнеру.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ЧЕК-ЛИСТЫ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проверять каждый рабочий день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Новые начисления, QR учеников, полученные комплекты и фактическая выдача.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Проблемные заказы, корректность начислений и запланированные рассылки.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Заказы без склада, чек-лист сборки, доставка и низкие остатки.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Очередь заказов, сотрудники, отчет AC и состояние товаров.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Изоляция городов, новые партнеры и критичные административные действия.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Перед завершением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Обновите списки и убедитесь, что статусы соответствуют фактическим действиям.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держите незавершенное действие открытым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После массовой операции дождитесь подтверждения и обновите соответствующий список.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ДИАГНОСТИКА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Частые ситуации и решения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Нет нужного раздела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Проверьте активную роль. Раздел может быть недоступен этому сотруднику.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 виден ученик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Проверьте город, группу, преподавателя, статус и активность связи.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 меняется статус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Обновите список и убедитесь, что предыдущий этап действительно завершен.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Неверный остаток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Сверьте склад в товаре и незавершенные резервы по заказам.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 работает QR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Получите актуальный код и проверьте активность родительской связи.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Ошибка повторяется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Запишите роль, город, раздел, номер заказа и последовательность действий.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приложить к обращению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Снимок экрана, время ошибки, роль, город и номер связанного ученика или заказа.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ПОДДЕРЖКА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Раздел помощи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537960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53796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6263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Страница на компьютере</a:t>
            </a:r>
          </a:p>
        </p:txBody>
      </p:sp>
      <p:pic>
        <p:nvPicPr>
          <p:cNvPr id="11" name="Picture 10" descr="help-placeholder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167128"/>
            <a:ext cx="6291072" cy="39319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296912" y="1755648"/>
            <a:ext cx="4407408" cy="3337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96912" y="1755648"/>
            <a:ext cx="4407408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4072" y="1819656"/>
            <a:ext cx="4133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Страница на телефоне</a:t>
            </a:r>
          </a:p>
        </p:txBody>
      </p:sp>
      <p:pic>
        <p:nvPicPr>
          <p:cNvPr id="15" name="Picture 14" descr="help-placeholder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5693" y="2167128"/>
            <a:ext cx="1309845" cy="283463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296912" y="5285232"/>
            <a:ext cx="440740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96912" y="5285232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0" y="5413248"/>
            <a:ext cx="4078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Сейчас раздел закрыт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5705856"/>
            <a:ext cx="407822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 публикации встроенных материалов используйте эту презентацию как основное руководство.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F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1792" y="621792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640080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749808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5303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Перед началом работы</a:t>
            </a:r>
          </a:p>
        </p:txBody>
      </p:sp>
      <p:sp>
        <p:nvSpPr>
          <p:cNvPr id="6" name="Rectangle 5"/>
          <p:cNvSpPr/>
          <p:nvPr/>
        </p:nvSpPr>
        <p:spPr>
          <a:xfrm rot="2700000">
            <a:off x="713232" y="2889504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16352"/>
            <a:ext cx="49651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Проверьте профиль, роль и город.</a:t>
            </a:r>
          </a:p>
        </p:txBody>
      </p:sp>
      <p:sp>
        <p:nvSpPr>
          <p:cNvPr id="8" name="Rectangle 7"/>
          <p:cNvSpPr/>
          <p:nvPr/>
        </p:nvSpPr>
        <p:spPr>
          <a:xfrm rot="2700000">
            <a:off x="713232" y="3456432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49651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Обновите данные нужного раздела.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713232" y="402336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50208"/>
            <a:ext cx="49651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Перед подтверждением сверьте выбранные записи.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713232" y="4590288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17136"/>
            <a:ext cx="49651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Меняйте статус только после фактического действия.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713232" y="5157216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84064"/>
            <a:ext cx="49651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При ошибке сохраняйте номер заказа или ученика.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9088" y="932688"/>
            <a:ext cx="5138928" cy="5084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9712" y="13716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1172F"/>
                </a:solidFill>
                <a:latin typeface="Arial"/>
              </a:rPr>
              <a:t>Краткий маршрут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39712" y="20574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206654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0391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Войти через 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2331720"/>
            <a:ext cx="3657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свой подтвержденный аккаунт.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39712" y="29992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300837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2632" y="298094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Выбрать профиль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3273551"/>
            <a:ext cx="3657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Ребенок, роль сотрудника и город.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39712" y="3941063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9712" y="395020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2632" y="39227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Выполнить действие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215383"/>
            <a:ext cx="3657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Проверить все выбранные данные.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39712" y="48828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39712" y="489204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42632" y="48646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Обновить результат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42632" y="5157216"/>
            <a:ext cx="3657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Убедиться, что операция завершена.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91088" y="6291072"/>
            <a:ext cx="566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