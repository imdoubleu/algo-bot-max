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6817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66928" y="566928"/>
            <a:ext cx="530352" cy="530352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85216"/>
            <a:ext cx="530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1172F"/>
                </a:solidFill>
                <a:latin typeface="Arial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8448" y="713232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3566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9C8F5"/>
                </a:solidFill>
                <a:latin typeface="Arial"/>
              </a:rPr>
              <a:t>ВИДЕО ПО РОЛИ · ПРЕПОДАВАТЕЛЬ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3611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</a:rPr>
              <a:t>Ежедневная работа преподавателя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383280"/>
            <a:ext cx="35478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E8DFFC"/>
                </a:solidFill>
                <a:latin typeface="Arial"/>
              </a:rPr>
              <a:t>Свои ученики, начисления, QR-коды, прием и выдача заказов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053328"/>
            <a:ext cx="33832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BB9E8"/>
                </a:solidFill>
                <a:latin typeface="Arial"/>
              </a:rPr>
              <a:t>Серия видеоинструкций ·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512064"/>
            <a:ext cx="6675120" cy="5833872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0" y="512064"/>
            <a:ext cx="667512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57216" y="566928"/>
            <a:ext cx="64190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Интерфейс роли: преподаватель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8913" y="877824"/>
            <a:ext cx="1355692" cy="53949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Первичная привязка к группам 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Первый вход -&gt; Укажите фамилию и имя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768059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832067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088099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фамилию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Используйте точное написание из LMS.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Первичная привязка к группам 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Первый вход -&gt; Укажите фамилию и имя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973604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37612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293644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имя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профиля MAX может отличаться.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Первичная привязка к группам 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Первый вход -&gt; Укажите фамилию и имя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370831" y="450177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456578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690871" y="484010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Сохраните и найдите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запускает автоматический поиск групп.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сохранения главная страница показывает найденные группы и учеников.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найденных групп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Рабочий профиль -&gt; Изменить ФИО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768059" y="404969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832067" y="411370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088099" y="438802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ФИО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Фамилия и имя должны совпадать с LMS.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найденных групп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Рабочий профиль -&gt; Изменить ФИО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370831" y="43510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34840" y="44150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4690871" y="46894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результат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Блок показывает число учеников и найденные группы.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Проверка найденных групп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Рабочий профиль -&gt; Изменить ФИО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4792772" y="46524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856780" y="47164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5112812" y="499079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Повторите поиск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Сохранение заново рассчитывает привязки.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групп нет, исправьте ФИО; вручную дублировать преподавателя не нужно.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Группы не найдены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9015984" y="2066543"/>
            <a:ext cx="2578608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98863" y="2267712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98863" y="2651760"/>
            <a:ext cx="2212848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ФИО не совпало с именем преподавателя в данных LMS.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15984" y="3822191"/>
            <a:ext cx="2578608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98863" y="4023360"/>
            <a:ext cx="22128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3" y="4407408"/>
            <a:ext cx="2212848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Нажмите «Изменить ФИО», перепишите фамилию и имя как в LMS и снова выберите «Сохранить и найти группы».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Рабочий экран преподавателя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09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нижнее меню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02" y="2432303"/>
            <a:ext cx="17532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25855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32256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59688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Фильтр сокращает список до нужной группы.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Рабочий экран преподавателя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нижнее меню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02" y="2432303"/>
            <a:ext cx="17532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38875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45276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72708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ученика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Карточка дает доступ к разрешенной истории.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Рабочий экран преподавателя на телефоне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нижнее меню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02" y="2432303"/>
            <a:ext cx="17532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353111" y="566964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17119" y="573365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673151" y="600797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открывает массовое начисление AC.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Преподаватель не видит чужие группы и не может отменять заказы.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Реестр только своих учеников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466673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0681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3786713" y="367223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Найдите ученика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Поиск работает внутри разрешенных групп.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Реестр только своих учеников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998317" y="333390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062325" y="339791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6318357" y="367223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Чужие группы не отображаются.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Реестр только своих учеников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История учеников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066543"/>
            <a:ext cx="832104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" y="2066543"/>
            <a:ext cx="8321040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121408"/>
            <a:ext cx="806500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приложения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2432303"/>
            <a:ext cx="602772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7023030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87038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7343070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15984" y="2066543"/>
            <a:ext cx="2578608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2185416"/>
            <a:ext cx="22494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15984" y="2596896"/>
            <a:ext cx="2578608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15984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88336"/>
            <a:ext cx="184708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карточку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008376"/>
            <a:ext cx="1847087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Преподаватель видит разрешенную историю.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15984" y="4315968"/>
            <a:ext cx="2578608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15984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4425696"/>
            <a:ext cx="22494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17152" y="4681728"/>
            <a:ext cx="2249424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Преподаватель видит только своих учеников и назначенные ему группы.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5413248"/>
            <a:ext cx="2578608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80576" y="5559552"/>
            <a:ext cx="22494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Групповое начисление 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96" y="2432303"/>
            <a:ext cx="214490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371575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435583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709903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Ниже останутся ученики этой группы.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Групповое начисление 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96" y="2432303"/>
            <a:ext cx="214490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27573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33974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61406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причину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Сумма связана с правилом текущего города.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Групповое начисление 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96" y="2432303"/>
            <a:ext cx="2144902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29291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35692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63124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Отметьте учеников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Кнопка показывает количество выбранных.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успеха проверьте новые операции в истории AC.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Своя причина и сумма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 -&gt; Своя причина и сумма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402" y="2432303"/>
            <a:ext cx="19180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23806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30206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57638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свой вариант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Появятся два ручных поля.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Своя причина и сумма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 -&gt; Своя причина и сумма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402" y="2432303"/>
            <a:ext cx="19180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69014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75414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02846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причину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Текст должен объяснять начисление.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НАЧИСЛЕНИЯ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Своя причина и сумма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Начисления -&gt; Своя причина и сумма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402" y="2432303"/>
            <a:ext cx="1918091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0520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Введите сумму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число до отправки.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Кастомная операция сохраняется с автором и доступна в отчете.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QR-коды учеников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761" y="2432303"/>
            <a:ext cx="189337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10786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17187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44619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4944" y="2505456"/>
            <a:ext cx="1627632" cy="310896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587751"/>
            <a:ext cx="15179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1172F"/>
                </a:solidFill>
                <a:latin typeface="Arial"/>
              </a:rPr>
              <a:t>ПРИМЕР, НЕ СКАНИРОВАТЬ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группу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Показаны только ученики преподавателя.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QR-коды учеников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761" y="2432303"/>
            <a:ext cx="189337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01202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07602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35034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4944" y="2505456"/>
            <a:ext cx="1627632" cy="310896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587751"/>
            <a:ext cx="15179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1172F"/>
                </a:solidFill>
                <a:latin typeface="Arial"/>
              </a:rPr>
              <a:t>ПРИМЕР, НЕ СКАНИРОВАТЬ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ученика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Карточка показывает доступность QR.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QR-коды учеников группы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Главная -&gt; QR-коды детей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761" y="2432303"/>
            <a:ext cx="1893373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5066873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5130881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405201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4944" y="2505456"/>
            <a:ext cx="1627632" cy="310896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2587751"/>
            <a:ext cx="151790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1172F"/>
                </a:solidFill>
                <a:latin typeface="Arial"/>
              </a:rPr>
              <a:t>ПРИМЕР, НЕ СКАНИРОВАТЬ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Покажите код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Код создается при активной родительской связи.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Если родитель не подключен, экран объяснит перейти по ссылке из письма.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QR-код недоступен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761" y="2432303"/>
            <a:ext cx="1893373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645152" y="2066543"/>
            <a:ext cx="6949440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2267712"/>
            <a:ext cx="6583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8032" y="2651760"/>
            <a:ext cx="65836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Родитель ученика еще не подключен к системе.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5152" y="3822191"/>
            <a:ext cx="6949440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8032" y="4023360"/>
            <a:ext cx="6583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4407408"/>
            <a:ext cx="65836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Попросите родителя открыть письмо школы и перейти по своей персональной ссылке.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только своих учеников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0275" y="2432303"/>
            <a:ext cx="122234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7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5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7" y="314480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Выберите состояние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Преподаватель видит только свою очередь.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только своих учеников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0275" y="2432303"/>
            <a:ext cx="122234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7" y="3785981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5" y="3849989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7" y="4124309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ученика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Имя и группа должны быть вашими.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Заказы только своих учеников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0275" y="2432303"/>
            <a:ext cx="122234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7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5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7" y="51038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заказ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состав до получения.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Количество и состав доставленных заказов видны в общей выжимке и карточках.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заказа на площадке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28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 площадке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373" y="2432303"/>
            <a:ext cx="2226148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14480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«На площадке»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Здесь только фактически доставленные заказы.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заказа на площадке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29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 площадке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373" y="2432303"/>
            <a:ext cx="2226148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162714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226722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501042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состав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товар и количество.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Получение заказа на площадке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На площадке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373" y="2432303"/>
            <a:ext cx="2226148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2545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Нажмите «Учитель получил»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Статус меняется после передачи преподавателю.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Следующее действие — «Передать ученику» после фактической выдачи ребенку.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ТИПИЧНАЯ СИТУАЦИЯ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Заказ еще не доставлен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31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FC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37360"/>
            <a:ext cx="292608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D94261"/>
                </a:solidFill>
                <a:latin typeface="Arial"/>
              </a:rPr>
              <a:t>ВОСПРОИЗВЕДЕННАЯ ОШИБКА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373" y="2432303"/>
            <a:ext cx="2226148" cy="3767327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645152" y="2066543"/>
            <a:ext cx="6949440" cy="1499616"/>
          </a:xfrm>
          <a:prstGeom prst="rect">
            <a:avLst/>
          </a:prstGeom>
          <a:solidFill>
            <a:srgbClr val="FCE7EC"/>
          </a:solidFill>
          <a:ln w="1016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2267712"/>
            <a:ext cx="6583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Что произошло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28032" y="2651760"/>
            <a:ext cx="6583679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Кнопка приема недоступна, пока заказ не появился на площадке.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5152" y="3822191"/>
            <a:ext cx="6949440" cy="1627632"/>
          </a:xfrm>
          <a:prstGeom prst="rect">
            <a:avLst/>
          </a:prstGeom>
          <a:solidFill>
            <a:srgbClr val="E1F6F3"/>
          </a:solidFill>
          <a:ln w="10160">
            <a:solidFill>
              <a:srgbClr val="149B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28032" y="4023360"/>
            <a:ext cx="65836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1172F"/>
                </a:solidFill>
                <a:latin typeface="Arial"/>
              </a:rPr>
              <a:t>Как исправить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2" y="4407408"/>
            <a:ext cx="65836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6E687D"/>
                </a:solidFill>
                <a:latin typeface="Arial"/>
              </a:rPr>
              <a:t>Не меняйте состояние заранее; дождитесь доставки и обновите список заказов.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Выдача заказа ученику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32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У учителя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380" y="2432303"/>
            <a:ext cx="229213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2806476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2870484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144804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Откройте «У учителя»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Здесь находятся принятые преподавателем комплекты.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Выдача заказа ученику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33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У учителя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380" y="2432303"/>
            <a:ext cx="229213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08736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15137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442569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ученика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Проверьте имя, товар и количество перед выдачей.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Выдача заказа ученику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34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У учителя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380" y="2432303"/>
            <a:ext cx="2292134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916180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980188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254508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3 ИЗ 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Передайте ученику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Нажмите кнопку только после фактической выдачи.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действия заказ перемещается во вкладку «Получены».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Результат выдачи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35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Получены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3107862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3171870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3446190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1 ИЗ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Проверьте состояние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Карточка подтверждает завершенную выдачу.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 нажатия дождитесь изменения экрана и переходите к следующему шагу.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274320"/>
            <a:ext cx="384048" cy="384048"/>
          </a:xfrm>
          <a:prstGeom prst="roundRect">
            <a:avLst/>
          </a:prstGeom>
          <a:solidFill>
            <a:srgbClr val="6F3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83464"/>
            <a:ext cx="384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6112" y="301752"/>
            <a:ext cx="1508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1172F"/>
                </a:solidFill>
                <a:latin typeface="Arial"/>
              </a:rPr>
              <a:t>Algo 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89611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F35D4"/>
                </a:solidFill>
                <a:latin typeface="Arial"/>
              </a:rPr>
              <a:t>ПРЕПОДАВАТЕЛЬ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" y="1097280"/>
            <a:ext cx="1101852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1172F"/>
                </a:solidFill>
                <a:latin typeface="Arial"/>
              </a:rPr>
              <a:t>Результат выдачи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37392" y="310896"/>
            <a:ext cx="548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E687D"/>
                </a:solidFill>
                <a:latin typeface="Arial"/>
              </a:rPr>
              <a:t>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" y="1645920"/>
            <a:ext cx="11228832" cy="329184"/>
          </a:xfrm>
          <a:prstGeom prst="rect">
            <a:avLst/>
          </a:prstGeom>
          <a:solidFill>
            <a:srgbClr val="EE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1746504"/>
            <a:ext cx="42062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6F35D4"/>
                </a:solidFill>
                <a:latin typeface="Arial"/>
              </a:rPr>
              <a:t>ПУТЬ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700784"/>
            <a:ext cx="10287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Заказы -&gt; Получены -&gt; Подробнее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2066543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2066543"/>
            <a:ext cx="3822191" cy="292608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21408"/>
            <a:ext cx="356615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Экран на телефоне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034" y="2432303"/>
            <a:ext cx="1740826" cy="3767327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212848" y="4765487"/>
            <a:ext cx="457200" cy="457200"/>
          </a:xfrm>
          <a:prstGeom prst="ellipse">
            <a:avLst/>
          </a:prstGeom>
          <a:noFill/>
          <a:ln w="27940">
            <a:solidFill>
              <a:srgbClr val="D94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276856" y="4829495"/>
            <a:ext cx="329184" cy="329184"/>
          </a:xfrm>
          <a:prstGeom prst="ellipse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Up Arrow 16"/>
          <p:cNvSpPr/>
          <p:nvPr/>
        </p:nvSpPr>
        <p:spPr>
          <a:xfrm rot="18900000">
            <a:off x="2532888" y="5103815"/>
            <a:ext cx="256032" cy="365760"/>
          </a:xfrm>
          <a:prstGeom prst="upArrow">
            <a:avLst/>
          </a:prstGeom>
          <a:solidFill>
            <a:srgbClr val="FFFFFF"/>
          </a:solidFill>
          <a:ln w="17780">
            <a:solidFill>
              <a:srgbClr val="3B1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45152" y="2066543"/>
            <a:ext cx="6949440" cy="420624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9744" y="2185416"/>
            <a:ext cx="6620255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ШАГ 2 ИЗ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5152" y="2596896"/>
            <a:ext cx="6949440" cy="1499616"/>
          </a:xfrm>
          <a:prstGeom prst="rect">
            <a:avLst/>
          </a:prstGeom>
          <a:solidFill>
            <a:srgbClr val="FFFFFF"/>
          </a:solidFill>
          <a:ln w="10160">
            <a:solidFill>
              <a:srgbClr val="DED9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96896"/>
            <a:ext cx="54864" cy="1499616"/>
          </a:xfrm>
          <a:prstGeom prst="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09744" y="2734056"/>
            <a:ext cx="310896" cy="310896"/>
          </a:xfrm>
          <a:prstGeom prst="roundRect">
            <a:avLst/>
          </a:prstGeom>
          <a:solidFill>
            <a:srgbClr val="D94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9744" y="2743200"/>
            <a:ext cx="31089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268833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80" b="1">
                <a:solidFill>
                  <a:srgbClr val="21172F"/>
                </a:solidFill>
                <a:latin typeface="Arial"/>
              </a:rPr>
              <a:t>Сверьте историю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008376"/>
            <a:ext cx="6217920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Последняя запись — «Заказ передан ученику».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45152" y="4315968"/>
            <a:ext cx="6949440" cy="877824"/>
          </a:xfrm>
          <a:prstGeom prst="rect">
            <a:avLst/>
          </a:prstGeom>
          <a:solidFill>
            <a:srgbClr val="E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315968"/>
            <a:ext cx="54864" cy="877824"/>
          </a:xfrm>
          <a:prstGeom prst="rect">
            <a:avLst/>
          </a:prstGeom>
          <a:solidFill>
            <a:srgbClr val="149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4425696"/>
            <a:ext cx="6620255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1172F"/>
                </a:solidFill>
                <a:latin typeface="Arial"/>
              </a:rPr>
              <a:t>Проверка результата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4681728"/>
            <a:ext cx="6620255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E687D"/>
                </a:solidFill>
                <a:latin typeface="Arial"/>
              </a:rPr>
              <a:t>Повторное нажатие не требуется: история хранит дату и итоговое состояние.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45152" y="5413248"/>
            <a:ext cx="6949440" cy="603504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09744" y="5559552"/>
            <a:ext cx="662025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0">
                <a:solidFill>
                  <a:srgbClr val="6E687D"/>
                </a:solidFill>
                <a:latin typeface="Arial"/>
              </a:rPr>
              <a:t>Курсор и номер показывают единственное действие этого кадра.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" y="6537960"/>
            <a:ext cx="11247120" cy="9144"/>
          </a:xfrm>
          <a:prstGeom prst="rect">
            <a:avLst/>
          </a:prstGeom>
          <a:solidFill>
            <a:srgbClr val="DED9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6601968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87D"/>
                </a:solidFill>
                <a:latin typeface="Arial"/>
              </a:rPr>
              <a:t>Роль: Преподаватель · Algo MAX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24528" cy="6858000"/>
          </a:xfrm>
          <a:prstGeom prst="rect">
            <a:avLst/>
          </a:prstGeom>
          <a:solidFill>
            <a:srgbClr val="3B1F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21945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ALGO 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81328"/>
            <a:ext cx="3401568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Arial"/>
              </a:rPr>
              <a:t>Роль</a:t>
            </a:r>
            <a:br/>
            <a:r>
              <a:rPr sz="2500" b="1">
                <a:solidFill>
                  <a:srgbClr val="FFFFFF"/>
                </a:solidFill>
                <a:latin typeface="Arial"/>
              </a:rPr>
              <a:t>«Преподаватель»</a:t>
            </a:r>
            <a:br/>
            <a:r>
              <a:rPr sz="2500" b="1">
                <a:solidFill>
                  <a:srgbClr val="FFFFFF"/>
                </a:solidFill>
                <a:latin typeface="Arial"/>
              </a:rPr>
              <a:t>готова к работе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413248"/>
            <a:ext cx="307238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9C8F5"/>
                </a:solidFill>
                <a:latin typeface="Arial"/>
              </a:rPr>
              <a:t>Руководство по роли завершено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28032" y="987552"/>
            <a:ext cx="6172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21172F"/>
                </a:solidFill>
                <a:latin typeface="Arial"/>
              </a:rPr>
              <a:t>Что проверить после просмотра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46320" y="1719072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0" y="1728216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1700784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Связать группы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993391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Введите ФИО как в LMS и проверьте найденных учеников.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46320" y="2743200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752344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2724912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Начислить AC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3017520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Проведите одну операцию и проверьте историю.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767328"/>
            <a:ext cx="365760" cy="365760"/>
          </a:xfrm>
          <a:prstGeom prst="round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3776472"/>
            <a:ext cx="365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1172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374904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1172F"/>
                </a:solidFill>
                <a:latin typeface="Arial"/>
              </a:rPr>
              <a:t>Проверить выдачу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4041648"/>
            <a:ext cx="56235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87D"/>
                </a:solidFill>
                <a:latin typeface="Arial"/>
              </a:rPr>
              <a:t>Откройте заказы, доставленные на площадку.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28032" y="5230368"/>
            <a:ext cx="6254496" cy="932688"/>
          </a:xfrm>
          <a:prstGeom prst="rect">
            <a:avLst/>
          </a:prstGeom>
          <a:solidFill>
            <a:srgbClr val="FFF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28032" y="5230368"/>
            <a:ext cx="54864" cy="932688"/>
          </a:xfrm>
          <a:prstGeom prst="rect">
            <a:avLst/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0" y="5358383"/>
            <a:ext cx="592531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1172F"/>
                </a:solidFill>
                <a:latin typeface="Arial"/>
              </a:rPr>
              <a:t>Следующий материал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650992"/>
            <a:ext cx="592531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E687D"/>
                </a:solidFill>
                <a:latin typeface="Arial"/>
              </a:rPr>
              <a:t>Для редких операций и спорных ситуаций используйте полное руководство по ролям.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