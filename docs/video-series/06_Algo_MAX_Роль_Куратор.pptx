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817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66928"/>
            <a:ext cx="530352" cy="530352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530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1172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1323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C8F5"/>
                </a:solidFill>
                <a:latin typeface="Arial"/>
              </a:rPr>
              <a:t>ВИДЕО ПО РОЛИ · КУРАТОР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55648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Работа куратора с учениками и новостями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83280"/>
            <a:ext cx="354787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8DFFC"/>
                </a:solidFill>
                <a:latin typeface="Arial"/>
              </a:rPr>
              <a:t>Группы, начисления, контроль заказов и адресные рассылки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53328"/>
            <a:ext cx="3383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BB9E8"/>
                </a:solidFill>
                <a:latin typeface="Arial"/>
              </a:rPr>
              <a:t>Серия видеоинструкций ·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12064"/>
            <a:ext cx="6675120" cy="5833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512064"/>
            <a:ext cx="667512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57216" y="566928"/>
            <a:ext cx="64190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Интерфейс роли: куратор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535049"/>
            <a:ext cx="6528816" cy="4080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КУРАТОР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Рабочая область куратора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888614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52622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4208654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Проверьте учеников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Список ограничен разрешенными группами.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КУРАТОР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Рабочая область куратора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179149" y="344692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3157" y="351093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499189" y="378525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Контролируйте выдачу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Куратор видит связанные заказы.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КУРАТОР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Рабочая область куратора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Главная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569" y="2432303"/>
            <a:ext cx="6027724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899464" y="438875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63472" y="445276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219504" y="472708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рассылки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Адресные новости доступны в меню.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Куратор может подтверждать доставку на площадку, но не отменять заказ.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Начисление AC: куратор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730083" y="389900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94091" y="396300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050123" y="423732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группу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выбора появится список доступных учеников.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Начисление AC: куратор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606515" y="4351080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70523" y="4415088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5926555" y="4689408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причину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Сумма подставляется из правила текущего города.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НАЧИСЛЕНИЯ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Начисление AC: куратор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Начисления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595062" y="47654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59070" y="48294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6915102" y="51038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Отметьте учеников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Перед начислением проверьте список и итоговое количество.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успеха откройте историю AC и убедитесь, что сумма и причина записаны один раз.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949795" y="348459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13803" y="354860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269835" y="382292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получателей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Родители, ученики или обе категории.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073364" y="420038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37372" y="426439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393404" y="453871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формат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Очные, онлайн или индивидуальные группы.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Категория, формат и группы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Получатели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196932" y="502919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60940" y="509320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3516972" y="536752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2066543"/>
            <a:ext cx="2578608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85416"/>
            <a:ext cx="22494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5984" y="2596896"/>
            <a:ext cx="2578608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0576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0576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688336"/>
            <a:ext cx="18470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Уточните площадки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008376"/>
            <a:ext cx="1847087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Выберите площадки и конкретные группы.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15984" y="4315968"/>
            <a:ext cx="2578608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15984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4425696"/>
            <a:ext cx="22494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4681728"/>
            <a:ext cx="2249424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Куратор видит только доступные ему группы и проверяет итоговое число получателей.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5984" y="5413248"/>
            <a:ext cx="2578608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5559552"/>
            <a:ext cx="22494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ТИПИЧНАЯ СИТУАЦИЯ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Аудитория пуста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F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37360"/>
            <a:ext cx="29260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4261"/>
                </a:solidFill>
                <a:latin typeface="Arial"/>
              </a:rPr>
              <a:t>ВОСПРОИЗВЕДЕННАЯ ОШИБКА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2066543"/>
            <a:ext cx="8321040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2066543"/>
            <a:ext cx="8321040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80650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приложения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223" y="2432303"/>
            <a:ext cx="6178417" cy="37673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015984" y="2066543"/>
            <a:ext cx="2578608" cy="1499616"/>
          </a:xfrm>
          <a:prstGeom prst="rect">
            <a:avLst/>
          </a:prstGeom>
          <a:solidFill>
            <a:srgbClr val="FCE7EC"/>
          </a:solidFill>
          <a:ln w="1016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98863" y="2267712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Что произошло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3" y="2651760"/>
            <a:ext cx="2212848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Выбранная группа недоступна или фильтры исключили всех получателей.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3822191"/>
            <a:ext cx="2578608" cy="1627632"/>
          </a:xfrm>
          <a:prstGeom prst="rect">
            <a:avLst/>
          </a:prstGeom>
          <a:solidFill>
            <a:srgbClr val="E1F6F3"/>
          </a:solidFill>
          <a:ln w="10160">
            <a:solidFill>
              <a:srgbClr val="149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8863" y="4023360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172F"/>
                </a:solidFill>
                <a:latin typeface="Arial"/>
              </a:rPr>
              <a:t>Как исправить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3" y="4407408"/>
            <a:ext cx="22128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E687D"/>
                </a:solidFill>
                <a:latin typeface="Arial"/>
              </a:rPr>
              <a:t>Сбросьте лишние условия, выберите доступную группу и снова рассчитайте аудиторию.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6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145535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209543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483863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Введите заголовок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 должен кратко объяснять тему.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6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012021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076029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350349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Напишите сообщение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Укажите дату, место и действие получателя.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Текст новости и изображение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86" y="2432303"/>
            <a:ext cx="1855123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066873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130881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05201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Добавьте фото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Поддерживаются JPEG, PNG и WebP.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Черновик сохраняется автоматически до финальной отправки.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Добавление эмодзи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 -&gt; кнопка эмодзи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2" y="2432303"/>
            <a:ext cx="17428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93667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00068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27500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Откройте набор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Кнопка показывает доступные эмодзи.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Добавление эмодзи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 -&gt; кнопка эмодзи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2" y="2432303"/>
            <a:ext cx="17428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539447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603455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877775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Выберите символ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Он вставится в позицию курсора.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Добавление эмодзи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Новость -&gt; кнопка эмодзи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2" y="2432303"/>
            <a:ext cx="174289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142219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206227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480547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Закройте набор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Текст сообщения сохранится.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Не требуется системная клавиатура: эмодзи доступны внутри редактора.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3107862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3171870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3446190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1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аудиторию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роли, площадки, группы и количество.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4162714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4226722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4501042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2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Сверьте сообщение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Проверьте текст, ссылку и изображение.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нажатия дождитесь изменения экрана и переходите к следующему шагу.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84048" cy="384048"/>
          </a:xfrm>
          <a:prstGeom prst="roundRect">
            <a:avLst/>
          </a:prstGeom>
          <a:solidFill>
            <a:srgbClr val="6F3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83464"/>
            <a:ext cx="384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01752"/>
            <a:ext cx="1508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1172F"/>
                </a:solidFill>
                <a:latin typeface="Arial"/>
              </a:rPr>
              <a:t>Algo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96112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F35D4"/>
                </a:solidFill>
                <a:latin typeface="Arial"/>
              </a:rPr>
              <a:t>РАССЫЛКИ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97280"/>
            <a:ext cx="110185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21172F"/>
                </a:solidFill>
                <a:latin typeface="Arial"/>
              </a:rPr>
              <a:t>Финальная проверка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310896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E687D"/>
                </a:solidFill>
                <a:latin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645920"/>
            <a:ext cx="11228832" cy="329184"/>
          </a:xfrm>
          <a:prstGeom prst="rect">
            <a:avLst/>
          </a:prstGeom>
          <a:solidFill>
            <a:srgbClr val="EE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746504"/>
            <a:ext cx="420624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F35D4"/>
                </a:solidFill>
                <a:latin typeface="Arial"/>
              </a:rPr>
              <a:t>ПУТЬ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00784"/>
            <a:ext cx="10287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Рассылки -&gt; Проверка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066543"/>
            <a:ext cx="3822191" cy="4206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2066543"/>
            <a:ext cx="3822191" cy="292608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356615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Экран на телефоне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2432303"/>
            <a:ext cx="2246571" cy="376732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212848" y="5217566"/>
            <a:ext cx="457200" cy="457200"/>
          </a:xfrm>
          <a:prstGeom prst="ellipse">
            <a:avLst/>
          </a:prstGeom>
          <a:noFill/>
          <a:ln w="27940">
            <a:solidFill>
              <a:srgbClr val="D94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6856" y="5281574"/>
            <a:ext cx="329184" cy="329184"/>
          </a:xfrm>
          <a:prstGeom prst="ellipse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Up Arrow 16"/>
          <p:cNvSpPr/>
          <p:nvPr/>
        </p:nvSpPr>
        <p:spPr>
          <a:xfrm rot="18900000">
            <a:off x="2532888" y="5555894"/>
            <a:ext cx="256032" cy="365760"/>
          </a:xfrm>
          <a:prstGeom prst="upArrow">
            <a:avLst/>
          </a:prstGeom>
          <a:solidFill>
            <a:srgbClr val="FFFFFF"/>
          </a:solidFill>
          <a:ln w="17780">
            <a:solidFill>
              <a:srgbClr val="3B1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2066543"/>
            <a:ext cx="6949440" cy="420624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9744" y="2185416"/>
            <a:ext cx="66202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ШАГ 3 ИЗ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596896"/>
            <a:ext cx="6949440" cy="1499616"/>
          </a:xfrm>
          <a:prstGeom prst="rect">
            <a:avLst/>
          </a:prstGeom>
          <a:solidFill>
            <a:srgbClr val="FFFFFF"/>
          </a:solidFill>
          <a:ln w="10160">
            <a:solidFill>
              <a:srgbClr val="DE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596896"/>
            <a:ext cx="54864" cy="1499616"/>
          </a:xfrm>
          <a:prstGeom prst="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09744" y="2734056"/>
            <a:ext cx="310896" cy="310896"/>
          </a:xfrm>
          <a:prstGeom prst="roundRect">
            <a:avLst/>
          </a:prstGeom>
          <a:solidFill>
            <a:srgbClr val="D94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9744" y="2743200"/>
            <a:ext cx="310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6217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21172F"/>
                </a:solidFill>
                <a:latin typeface="Arial"/>
              </a:rPr>
              <a:t>Отправьте один раз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008376"/>
            <a:ext cx="621792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Дождитесь итоговой статистики.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4315968"/>
            <a:ext cx="6949440" cy="877824"/>
          </a:xfrm>
          <a:prstGeom prst="rect">
            <a:avLst/>
          </a:prstGeom>
          <a:solidFill>
            <a:srgbClr val="E1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45152" y="4315968"/>
            <a:ext cx="54864" cy="877824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425696"/>
            <a:ext cx="66202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1172F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681728"/>
            <a:ext cx="662025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E687D"/>
                </a:solidFill>
                <a:latin typeface="Arial"/>
              </a:rPr>
              <a:t>После отправки текст не редактируется; исправление отправляется новой рассылкой.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5413248"/>
            <a:ext cx="6949440" cy="603504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5559552"/>
            <a:ext cx="66202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E687D"/>
                </a:solidFill>
                <a:latin typeface="Arial"/>
              </a:rPr>
              <a:t>Курсор и номер показывают единственное действие этого кадра.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6537960"/>
            <a:ext cx="11247120" cy="9144"/>
          </a:xfrm>
          <a:prstGeom prst="rect">
            <a:avLst/>
          </a:prstGeom>
          <a:solidFill>
            <a:srgbClr val="DED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601968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E687D"/>
                </a:solidFill>
                <a:latin typeface="Arial"/>
              </a:rPr>
              <a:t>Роль: Куратор · Algo MAX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24528" cy="6858000"/>
          </a:xfrm>
          <a:prstGeom prst="rect">
            <a:avLst/>
          </a:prstGeom>
          <a:solidFill>
            <a:srgbClr val="3B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ALGO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340156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Роль</a:t>
            </a:r>
            <a:br/>
            <a:r>
              <a:rPr sz="3000" b="1">
                <a:solidFill>
                  <a:srgbClr val="FFFFFF"/>
                </a:solidFill>
                <a:latin typeface="Arial"/>
              </a:rPr>
              <a:t>«Куратор»</a:t>
            </a:r>
            <a:br/>
            <a:r>
              <a:rPr sz="3000" b="1">
                <a:solidFill>
                  <a:srgbClr val="FFFFFF"/>
                </a:solidFill>
                <a:latin typeface="Arial"/>
              </a:rPr>
              <a:t>готова к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13248"/>
            <a:ext cx="3072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9C8F5"/>
                </a:solidFill>
                <a:latin typeface="Arial"/>
              </a:rPr>
              <a:t>Руководство по роли завершено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8032" y="987552"/>
            <a:ext cx="6172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1172F"/>
                </a:solidFill>
                <a:latin typeface="Arial"/>
              </a:rPr>
              <a:t>Что проверить после просмотра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719072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28216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00784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Проверить группы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93391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Сверьте доступную аудиторию филиала.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743200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752344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724912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Подготовить новость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017520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Выберите формат, площадки и группы.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767328"/>
            <a:ext cx="365760" cy="36576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776472"/>
            <a:ext cx="365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117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74904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1172F"/>
                </a:solidFill>
                <a:latin typeface="Arial"/>
              </a:rPr>
              <a:t>Сверить отправку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041648"/>
            <a:ext cx="56235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E687D"/>
                </a:solidFill>
                <a:latin typeface="Arial"/>
              </a:rPr>
              <a:t>Проверьте число получателей до публикации.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28032" y="5230368"/>
            <a:ext cx="6254496" cy="932688"/>
          </a:xfrm>
          <a:prstGeom prst="rect">
            <a:avLst/>
          </a:prstGeom>
          <a:solidFill>
            <a:srgbClr val="FFF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32" y="5230368"/>
            <a:ext cx="54864" cy="932688"/>
          </a:xfrm>
          <a:prstGeom prst="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5358383"/>
            <a:ext cx="5925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172F"/>
                </a:solidFill>
                <a:latin typeface="Arial"/>
              </a:rPr>
              <a:t>Следующий материал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650992"/>
            <a:ext cx="592531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E687D"/>
                </a:solidFill>
                <a:latin typeface="Arial"/>
              </a:rPr>
              <a:t>Для редких операций и спорных ситуаций используйте полное руководство по ролям.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