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57216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" y="603504"/>
            <a:ext cx="566928" cy="566928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630936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749808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901952"/>
            <a:ext cx="4096512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Управление</a:t>
            </a:r>
            <a:br/>
            <a:r>
              <a:rPr sz="3200" b="1">
                <a:solidFill>
                  <a:srgbClr val="FFFFFF"/>
                </a:solidFill>
                <a:latin typeface="Arial"/>
              </a:rPr>
              <a:t>системой мотивации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429000"/>
            <a:ext cx="39136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8DFFC"/>
                </a:solidFill>
                <a:latin typeface="Arial"/>
              </a:rPr>
              <a:t>Роли, астрокоины, магазин, заказы и работа филиалов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5266944"/>
            <a:ext cx="2542032" cy="4572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394960"/>
            <a:ext cx="2267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172F"/>
                </a:solidFill>
                <a:latin typeface="Arial"/>
              </a:rPr>
              <a:t>Обзор и практическое обучение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0167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B9E8"/>
                </a:solidFill>
                <a:latin typeface="Arial"/>
              </a:rPr>
              <a:t>Август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8112" y="548640"/>
            <a:ext cx="6217920" cy="5760720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-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1133856"/>
            <a:ext cx="5833872" cy="1944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33872" y="4901184"/>
            <a:ext cx="5468112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33872" y="4901184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029200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Один рабочий процесс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321808"/>
            <a:ext cx="5138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От начисления AC до получения ребенком физической или цифровой награды.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СОСТАВ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Один сервис вместо разрозненных таблиц и чатов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Профили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Ученик, родитель и сотрудник входят через MAX и видят только свою роль.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Астрокоины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Баланс, начисления, корректировки и прозрачная история операций.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Физические и цифровые награды, категории, поиск, корзина и избранное.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Резерв, склад, сборка, доставка, передача преподавателю и выдача.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Ученики, сотрудники, товары, склады, связи и импорт Excel.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Коммуникации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Рассылки по группам, площадкам и форматам занятий.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Данные разделены по городам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Директор работает только с назначенными ему филиалами и проверяет выбранный город перед изменением.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ДОСТУП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Шесть пользовательских ролей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154680" cy="1143000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64008" cy="1143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901952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Ученик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258568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Баланс, магазин, корзина, заказы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37360"/>
            <a:ext cx="3154680" cy="1143000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1737360"/>
            <a:ext cx="64008" cy="1143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1901952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Родитель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2258568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Дети, QR-коды, семейные заказы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737360"/>
            <a:ext cx="3154680" cy="1143000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1737360"/>
            <a:ext cx="64008" cy="11430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1901952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2258568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Свои ученики, начисления, выдача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01568"/>
            <a:ext cx="3154680" cy="1143000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401568"/>
            <a:ext cx="64008" cy="114300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356616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Куратор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3922776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Заказы, начисления, рассылки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401568"/>
            <a:ext cx="3154680" cy="1143000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1920" y="3401568"/>
            <a:ext cx="64008" cy="1143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51376" y="356616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3922776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Товары, склады, импорт, связи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401568"/>
            <a:ext cx="3154680" cy="1143000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3401568"/>
            <a:ext cx="64008" cy="1143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6" y="356616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Директор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376" y="3922776"/>
            <a:ext cx="2724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Филиалы, сотрудники, настройки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089904"/>
            <a:ext cx="109910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B1F68"/>
                </a:solidFill>
                <a:latin typeface="Arial"/>
              </a:rPr>
              <a:t>Сотрудники видят магазин, но не имеют личного счета AC и не оформляют покупки.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ПОДКЛЮЧЕНИЕ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пользователь получает доступ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Школа готовит приглашение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Для родителя используется персональная ссылка, для сотрудника — одноразовое приглашение с ролью.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334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42615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6151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Пользователь открывает 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907791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MAX подтверждает аккаунт и связывает его с нужным профилем.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129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520439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930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Родитель открывает доступ ребенку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85615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кабинете родителя создается персональный QR-код или ссылка ребенка.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8912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9826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3708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Приложение проверяет права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66344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Без активной связи или роли данные не открываются.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Что проверяется при входе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активность связи с MAX;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роль пользователя;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выбранный город;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доступ к ребенку или филиалу;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4718304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4645152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срок доступа выбывшего ученика.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Ссылки персональные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Их нельзя публиковать в открытом доступе или передавать посторонним.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Баланс, магазин и личные 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ученик</a:t>
            </a:r>
          </a:p>
        </p:txBody>
      </p:sp>
      <p:pic>
        <p:nvPicPr>
          <p:cNvPr id="11" name="Picture 10" descr="student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видит свой баланс и историю AC;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выбирает товары и ведет корзину;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оформляет заказ на доступный баланс;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следит за статусом и открывает цифровой код.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48655"/>
            <a:ext cx="3922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Данные только одного ученика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541264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Ученик не видит чужие профили, заказы, склады и административные функции.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Несколько детей в одном кабинете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родитель</a:t>
            </a:r>
          </a:p>
        </p:txBody>
      </p:sp>
      <p:pic>
        <p:nvPicPr>
          <p:cNvPr id="11" name="Picture 10" descr="parent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переключается между связанными детьми;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видит отдельный баланс каждого ребенка;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ведет раздельные корзины и заказы;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создает QR-коды и ссылки детского входа.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02936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Выбранный ребенок определяет все данные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641848"/>
            <a:ext cx="3922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Баланс, корзина, история и получатель заказа меняются вместе с профилем ребенка.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Свои ученики, начисления и выдача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преподаватель</a:t>
            </a:r>
          </a:p>
        </p:txBody>
      </p:sp>
      <p:pic>
        <p:nvPicPr>
          <p:cNvPr id="11" name="Picture 10" descr="teacher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86" y="2176272"/>
            <a:ext cx="5783051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видит только назначенные группы;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показывает ученикам персональные QR-коды;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начисляет AC выбранным ученикам;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принимает и выдает заказы своих учеников.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48655"/>
            <a:ext cx="3922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Начисление одной операцией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541264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Преподаватель отмечает учеников, выбирает причину и связанную сумму AC.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Координация учеников и сообщений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куратор</a:t>
            </a:r>
          </a:p>
        </p:txBody>
      </p:sp>
      <p:pic>
        <p:nvPicPr>
          <p:cNvPr id="11" name="Picture 10" descr="curator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работает с доступными группами и учениками;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просматривает заказы и начисления;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создает новости с текстом и изображением;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фильтрует аудиторию по группам и площадкам.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02936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Рассылка отправляется после проверки аудитории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641848"/>
            <a:ext cx="3922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Можно выбрать группы вручную либо использовать формат занятий и правила площадок.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Ежедневные операции филиала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администратор</a:t>
            </a:r>
          </a:p>
        </p:txBody>
      </p:sp>
      <p:pic>
        <p:nvPicPr>
          <p:cNvPr id="11" name="Picture 10" descr="admin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назначает склады и собирает заказы;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ведет товары, остатки и цифровые коды;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управляет учениками, связями и сотрудниками;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загружает данные и контролирует историю действий.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48655"/>
            <a:ext cx="39227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Все изменения фиксируются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541264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Статусы, корректировки баланса, отмены и действия сотрудников остаются в истории.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Несколько филиалов и сотрудники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64792"/>
            <a:ext cx="662940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64792"/>
            <a:ext cx="662940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6355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Интерфейс роли: директор</a:t>
            </a:r>
          </a:p>
        </p:txBody>
      </p:sp>
      <p:pic>
        <p:nvPicPr>
          <p:cNvPr id="11" name="Picture 10" descr="director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70" y="2176272"/>
            <a:ext cx="6393484" cy="3995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178308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доступно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7424927" y="22860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212848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переключается между назначенными городами;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7424927" y="281635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743200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приглашает администраторов, кураторов и педагогов;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7424927" y="3346704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отзывает роли и настраивает уведомления;</a:t>
            </a:r>
          </a:p>
        </p:txBody>
      </p:sp>
      <p:sp>
        <p:nvSpPr>
          <p:cNvPr id="19" name="Rectangle 18"/>
          <p:cNvSpPr/>
          <p:nvPr/>
        </p:nvSpPr>
        <p:spPr>
          <a:xfrm rot="2700000">
            <a:off x="7424927" y="387705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3803904"/>
            <a:ext cx="37764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72F"/>
                </a:solidFill>
                <a:latin typeface="Arial"/>
              </a:rPr>
              <a:t>контролирует заказы, остатки и начисления.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20640"/>
            <a:ext cx="425196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20640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5202936"/>
            <a:ext cx="39227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Данные ограничены назначенными филиалами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641848"/>
            <a:ext cx="3922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Один директор может работать с несколькими городами, не получая доступа к чужим партнерам.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АСТРОКОИНЫ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Начисления, баланс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349300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Как начисляются AC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877824" y="26517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преподаватель отмечает учеников;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877824" y="314553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выбирает настроенную причину и сумму;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877824" y="363931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может указать свою причину и количество;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877824" y="4133087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подарок 50 AC начисляется в день рождения.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55648"/>
            <a:ext cx="64008" cy="349300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Что контролирует школа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6528816" y="26517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историю каждой операции;</a:t>
            </a:r>
          </a:p>
        </p:txBody>
      </p:sp>
      <p:sp>
        <p:nvSpPr>
          <p:cNvPr id="24" name="Rectangle 23"/>
          <p:cNvSpPr/>
          <p:nvPr/>
        </p:nvSpPr>
        <p:spPr>
          <a:xfrm rot="2700000">
            <a:off x="6528816" y="314553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отчет по периоду, преподавателю и группе;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528816" y="36393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ручные корректировки с причиной;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528816" y="4133087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возврат AC при отмене заказа.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5431536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5431536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1383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Правила настраиваются для каждого города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5952744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Директор и администратор связывают типовые причины с фиксированными суммами.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Физические и цифровые награды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Каталог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Категории, поиск, сортировка, наличие, избранное и фотографии.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Количество, итоговая стоимость и остаток баланса после покупки.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Физический товар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Остатки задаются по складам прямо в карточке товара.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Цифровой товар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Администратор загружает уникальные коды вместо складских остатков.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Автовыдача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Свободный код закрепляется за заказом и больше не используется.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Импорт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Каталог можно массово заполнить через подготовленный XLSX-шаблон.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Покупатель не выбирает склад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Склад определяет сотрудник при обработке заказа; цифровой товар выдается без склада.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Пять этапов физического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883664"/>
            <a:ext cx="2057400" cy="252374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3" y="2066543"/>
            <a:ext cx="420624" cy="420624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Зарезервирован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Заказ создан, склад не назначен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883664"/>
            <a:ext cx="2057400" cy="252374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35224" y="2066543"/>
            <a:ext cx="420624" cy="420624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Ожидает доставки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Склад выбран, товар собирают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1883664"/>
            <a:ext cx="2057400" cy="252374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6944" y="2066543"/>
            <a:ext cx="420624" cy="420624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 площадке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Комплект доставлен в филиал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4071" y="1883664"/>
            <a:ext cx="2057400" cy="252374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98663" y="2066543"/>
            <a:ext cx="420624" cy="420624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3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3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У преподавателя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Педагог принял комплект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3" y="2788920"/>
            <a:ext cx="2194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E687D"/>
                </a:solidFill>
                <a:latin typeface="Ar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65792" y="1883664"/>
            <a:ext cx="2057400" cy="252374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0384" y="2066543"/>
            <a:ext cx="420624" cy="420624"/>
          </a:xfrm>
          <a:prstGeom prst="round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2121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706624"/>
            <a:ext cx="17190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Получен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3401568"/>
            <a:ext cx="17190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Награда передана ребенку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43584" y="4864608"/>
            <a:ext cx="9674352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43584" y="486460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44752" y="4946904"/>
            <a:ext cx="93451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Статус меняется после фактического действия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4752" y="5385816"/>
            <a:ext cx="9345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Отменить заказ на любом этапе могут только администратор или директор; причина сохраняется, AC возвращаются ученику.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КОМПЛЕКТАЦИЯ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сотрудники обрабатывают физические 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55648"/>
            <a:ext cx="6263640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755648"/>
            <a:ext cx="6263640" cy="32004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19656"/>
            <a:ext cx="5989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Рабочее место заказов</a:t>
            </a:r>
          </a:p>
        </p:txBody>
      </p:sp>
      <p:pic>
        <p:nvPicPr>
          <p:cNvPr id="11" name="Picture 10" descr="admin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264855"/>
            <a:ext cx="6080758" cy="38004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59168" y="181051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8196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79222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084831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Система подставляет основной склад сотрудника, но его можно изменить.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9168" y="275234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7614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734056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Собрать товары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026663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Одинаковые позиции объединены по складам в общий чек-лист.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369417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70332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6758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Распределить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3968496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Полностью собранные заказы группируются по площадкам и преподавателям.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59168" y="463600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464515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4617720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Подтвердить этап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4910328"/>
            <a:ext cx="39593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Статусы меняются только после фактической доставки или передачи.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5340096"/>
            <a:ext cx="4645152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8" y="534009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8896" y="5468112"/>
            <a:ext cx="4315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Рабочие списки обновляются вручную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5760720"/>
            <a:ext cx="4315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Отмеченная позиция остается на месте до нажатия кнопки обновления этапа.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Ученики и импорт из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349300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Карточка ученика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877824" y="26517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ФИО, ID, город и группа;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877824" y="314553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преподаватель и родитель;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877824" y="363931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дата рождения и статус;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877824" y="4133087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баланс, связи и история изменений.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55648"/>
            <a:ext cx="64008" cy="349300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Безопасный импорт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6528816" y="26517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предпросмотр до записи;</a:t>
            </a:r>
          </a:p>
        </p:txBody>
      </p:sp>
      <p:sp>
        <p:nvSpPr>
          <p:cNvPr id="24" name="Rectangle 23"/>
          <p:cNvSpPr/>
          <p:nvPr/>
        </p:nvSpPr>
        <p:spPr>
          <a:xfrm rot="2700000">
            <a:off x="6528816" y="314553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автораспределение по колонке «Город»;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528816" y="36393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создание и обновление по идентификатору;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528816" y="4133087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остановка при неизвестном городе или нехватке прав.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5431536"/>
            <a:ext cx="6446520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5431536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1383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Поддерживаются шаблон и лист «Сделки»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5952744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Лишние листы и столбцы игнорируются; нужные города создаются заранее.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КОММУНИКАЦИИ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Автоматические уведомления и ручные рассылки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Новый заказ, отмена, доставка на площадку, передача преподавателю и выдача.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Остатки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Сотрудники получают предупреждения о малом количестве товаров и кодов.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Новый товар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Ученикам и родителям можно отправить карточку с прямым переходом.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Новости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Текст и изображение для выбранной аудитории.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Фильтры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Группы, площадки, онлайн, индивидуальные и очные занятия.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Настройки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Директор выбирает типы уведомлений для каждого сотрудника.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495544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Внешняя доставка идет только через 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934456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История рассылки показывает успешные, пропущенные и неудачные отправки.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ДОСТУП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Связи, выбытие и сохранение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3493008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Активная связь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877824" y="26517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родитель видит только связанных детей;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877824" y="3145536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детский доступ зависит от родительской связи;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877824" y="3639312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отзыв роли закрывает рабочие разделы;</a:t>
            </a:r>
          </a:p>
        </p:txBody>
      </p:sp>
      <p:sp>
        <p:nvSpPr>
          <p:cNvPr id="17" name="Rectangle 16"/>
          <p:cNvSpPr/>
          <p:nvPr/>
        </p:nvSpPr>
        <p:spPr>
          <a:xfrm rot="2700000">
            <a:off x="877824" y="4133087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связь можно оформить заново с другой ролью.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55648"/>
            <a:ext cx="5358384" cy="3493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55648"/>
            <a:ext cx="64008" cy="349300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01168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1172F"/>
                </a:solidFill>
                <a:latin typeface="Arial"/>
              </a:rPr>
              <a:t>После выбытия</a:t>
            </a:r>
          </a:p>
        </p:txBody>
      </p:sp>
      <p:sp>
        <p:nvSpPr>
          <p:cNvPr id="22" name="Rectangle 21"/>
          <p:cNvSpPr/>
          <p:nvPr/>
        </p:nvSpPr>
        <p:spPr>
          <a:xfrm rot="2700000">
            <a:off x="6528816" y="26517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578608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баланс и история не удаляются;</a:t>
            </a:r>
          </a:p>
        </p:txBody>
      </p:sp>
      <p:sp>
        <p:nvSpPr>
          <p:cNvPr id="24" name="Rectangle 23"/>
          <p:cNvSpPr/>
          <p:nvPr/>
        </p:nvSpPr>
        <p:spPr>
          <a:xfrm rot="2700000">
            <a:off x="6528816" y="314553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072384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действует настраиваемый срок доступа;</a:t>
            </a:r>
          </a:p>
        </p:txBody>
      </p:sp>
      <p:sp>
        <p:nvSpPr>
          <p:cNvPr id="26" name="Rectangle 25"/>
          <p:cNvSpPr/>
          <p:nvPr/>
        </p:nvSpPr>
        <p:spPr>
          <a:xfrm rot="2700000">
            <a:off x="6528816" y="36393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566160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директор задает период сезонной заморозки;</a:t>
            </a:r>
          </a:p>
        </p:txBody>
      </p:sp>
      <p:sp>
        <p:nvSpPr>
          <p:cNvPr id="28" name="Rectangle 27"/>
          <p:cNvSpPr/>
          <p:nvPr/>
        </p:nvSpPr>
        <p:spPr>
          <a:xfrm rot="2700000">
            <a:off x="6528816" y="4133087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059935"/>
            <a:ext cx="439826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72F"/>
                </a:solidFill>
                <a:latin typeface="Arial"/>
              </a:rPr>
              <a:t>возврат к обучению восстанавливает прежние данные.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5431536"/>
            <a:ext cx="6446520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5431536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551383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Старые заказы остаются доступными сотрудникам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8" y="5952744"/>
            <a:ext cx="61173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D"/>
                </a:solidFill>
                <a:latin typeface="Arial"/>
              </a:rPr>
              <a:t>Школа может завершить выдачу уже оформленных заказов даже после выбытия ученика.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Подробный обзор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Обзор завершен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Подробный обзор завершен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Как продолжить обучение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Выбрать свою 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инструкцию только для доступного вам кабинета.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Повторить сценарий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Следуйте маршруту экрана и нажимайте указанные кнопки по порядку.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Сверить со справочником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Для редкой операции найдите соответствующий раздел полного руководства.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Отдельные ролевые видео показывают конкретные кнопки, ограничения и проверку результата каждой операции.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