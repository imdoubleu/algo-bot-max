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57216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" y="603504"/>
            <a:ext cx="566928" cy="566928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630936"/>
            <a:ext cx="5669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3312" y="749808"/>
            <a:ext cx="1965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901952"/>
            <a:ext cx="4096512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Управление</a:t>
            </a:r>
            <a:br/>
            <a:r>
              <a:rPr sz="3200" b="1">
                <a:solidFill>
                  <a:srgbClr val="FFFFFF"/>
                </a:solidFill>
                <a:latin typeface="Arial"/>
              </a:rPr>
              <a:t>системой мотивации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3429000"/>
            <a:ext cx="39136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E8DFFC"/>
                </a:solidFill>
                <a:latin typeface="Arial"/>
              </a:rPr>
              <a:t>Роли, астрокоины, магазин, заказы и работа филиалов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5266944"/>
            <a:ext cx="2542032" cy="4572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394960"/>
            <a:ext cx="226771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1172F"/>
                </a:solidFill>
                <a:latin typeface="Arial"/>
              </a:rPr>
              <a:t>Обзор действующего продукта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60167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Август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68112" y="548640"/>
            <a:ext cx="6217920" cy="576072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ashboard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133856"/>
            <a:ext cx="5833872" cy="194462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833872" y="4901184"/>
            <a:ext cx="546811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833872" y="4901184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502920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Один рабочий процесс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5321808"/>
            <a:ext cx="513892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 начисления AC до получения ребенком физической или цифровой награды.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СОСТАВ ПРОДУКТА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Один сервис вместо разрозненных таблиц и чатов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Профили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Ученик, родитель и сотрудник входят через MAX и видят только свою роль.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Астрокоины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начисления, корректировки и прозрачная история операций.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Магазин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Физические и цифровые награды, категории, поиск, корзина и избранное.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Резерв, склад, сборка, доставка, передача преподавателю и выдача.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Управление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Ученики, сотрудники, товары, склады, связи и импорт Excel.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Коммуникации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Рассылки по группам, площадкам и форматам занятий.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разделены по городам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работает только со своими филиалами; суперадминистратор переключает город вручную.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Семь ролей без дублирования функций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Баланс, магазин, корзина, заказы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1737360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0" y="1737360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51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Родитель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1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Дети, QR-коды, семейные заказы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60920" y="1737360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60920" y="1737360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0376" y="1901952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0376" y="2258568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Свои ученики, начисления, выдача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36976"/>
            <a:ext cx="3154680" cy="1143000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236976"/>
            <a:ext cx="64008" cy="1143000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34015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3758184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Заказы, начисления, рассылки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3236976"/>
            <a:ext cx="3154680" cy="1143000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3236976"/>
            <a:ext cx="64008" cy="114300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51376" y="34015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1376" y="3758184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Товары, склады, импорт, связи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60920" y="3236976"/>
            <a:ext cx="3154680" cy="1143000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60920" y="3236976"/>
            <a:ext cx="64008" cy="114300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0376" y="3401568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0376" y="3758184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Филиалы, сотрудники, настройки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31920" y="4736592"/>
            <a:ext cx="3154680" cy="1143000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931920" y="4736592"/>
            <a:ext cx="64008" cy="114300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51376" y="4901183"/>
            <a:ext cx="27614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51376" y="5257800"/>
            <a:ext cx="272491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Партнеры, города, общий контроль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089904"/>
            <a:ext cx="1099108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3B1F68"/>
                </a:solidFill>
                <a:latin typeface="Arial"/>
              </a:rPr>
              <a:t>Сотрудники видят магазин, но не имеют личного счета AC и не оформляют покупки.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ПОДКЛЮЧЕНИЕ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пользователь получает доступ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76479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17373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Школа готовит приглашение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029967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Для родителя используется персональная ссылка, для сотрудника — одноразовое приглашение с ролью.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334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64261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261518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Пользователь открывает 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2907791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MAX подтверждает аккаунт и связывает его с нужным профилем.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129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520439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" y="349300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Родитель открывает доступ ребенку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3785615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 кабинете родителя создается персональный QR-код или ссылка ребенка.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8912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39826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3708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Приложение проверяет права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4663440"/>
            <a:ext cx="51206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Без активной связи или роли данные не открываются.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1755648"/>
            <a:ext cx="5138928" cy="347472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48272" y="2011680"/>
            <a:ext cx="449884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1172F"/>
                </a:solidFill>
                <a:latin typeface="Arial"/>
              </a:rPr>
              <a:t>Что проверяется при входе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766560" y="2670048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67728" y="2596896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активность связи с MAX;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766560" y="31821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67728" y="3108960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роль пользователя;</a:t>
            </a:r>
          </a:p>
        </p:txBody>
      </p:sp>
      <p:sp>
        <p:nvSpPr>
          <p:cNvPr id="30" name="Rectangle 29"/>
          <p:cNvSpPr/>
          <p:nvPr/>
        </p:nvSpPr>
        <p:spPr>
          <a:xfrm rot="2700000">
            <a:off x="6766560" y="369417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3621024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выбранный город;</a:t>
            </a:r>
          </a:p>
        </p:txBody>
      </p:sp>
      <p:sp>
        <p:nvSpPr>
          <p:cNvPr id="32" name="Rectangle 31"/>
          <p:cNvSpPr/>
          <p:nvPr/>
        </p:nvSpPr>
        <p:spPr>
          <a:xfrm rot="2700000">
            <a:off x="6766560" y="420624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67728" y="4133087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доступ к ребенку или филиалу;</a:t>
            </a:r>
          </a:p>
        </p:txBody>
      </p:sp>
      <p:sp>
        <p:nvSpPr>
          <p:cNvPr id="34" name="Rectangle 33"/>
          <p:cNvSpPr/>
          <p:nvPr/>
        </p:nvSpPr>
        <p:spPr>
          <a:xfrm rot="2700000">
            <a:off x="6766560" y="4718304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4645152"/>
            <a:ext cx="423367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1172F"/>
                </a:solidFill>
                <a:latin typeface="Arial"/>
              </a:rPr>
              <a:t>срок доступа выбывшего ученика.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46520" y="5413248"/>
            <a:ext cx="5138928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6520" y="541324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5541264"/>
            <a:ext cx="48097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Ссылки персональные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5833872"/>
            <a:ext cx="48097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Их нельзя публиковать в открытом доступе или передавать посторонним.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УЧЕНИК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Баланс, магазин и личные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ученик</a:t>
            </a:r>
          </a:p>
        </p:txBody>
      </p:sp>
      <p:pic>
        <p:nvPicPr>
          <p:cNvPr id="11" name="Picture 10" descr="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свой баланс и историю AC;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выбирает товары и ведет корзину;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оформляет заказ на доступный баланс;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следит за статусом и открывает цифровой код.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только одного ученика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Ученик не видит чужие профили, заказы, склады и административные функции.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РОДИТЕЛЬ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детей в одном кабинете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родитель</a:t>
            </a:r>
          </a:p>
        </p:txBody>
      </p:sp>
      <p:pic>
        <p:nvPicPr>
          <p:cNvPr id="11" name="Picture 10" descr="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связанными детьми;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отдельный баланс каждого ребенка;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раздельные корзины и заказы;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QR-коды и ссылки детского входа.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Выбранный ребенок определяет все 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корзина, история и получатель заказа меняются вместе с профилем ребенка.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Свои ученики, начисления и выдача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1" name="Picture 10" descr="teache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видит только назначенные группы;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показывает ученикам персональные QR-коды;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начисляет AC выбранным ученикам;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принимает и выдает заказы своих учеников.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Начисление одной операцией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Преподаватель отмечает учеников, выбирает причину и связанную сумму AC.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КУРАТОР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Координация учеников и сообщений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куратор</a:t>
            </a:r>
          </a:p>
        </p:txBody>
      </p:sp>
      <p:pic>
        <p:nvPicPr>
          <p:cNvPr id="11" name="Picture 10" descr="curator-broad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работает с доступными группами и учениками;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просматривает заказы и начисления;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новости с текстом и изображением;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фильтрует аудиторию по группам и площадкам.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Рассылка отправляется после проверки аудитории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Можно выбрать группы вручную либо использовать формат занятий и правила площадок.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Ежедневные операции филиала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администратор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склады и собирает заказы;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ведет товары, остатки и цифровые коды;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управляет учениками, связями и сотрудниками;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загружает данные и контролирует историю действий.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Все изменения фиксируются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Статусы, корректировки баланса, отмены и действия сотрудников остаются в истории.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ДИРЕКТОР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Несколько филиалов и сотрудники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директор</a:t>
            </a:r>
          </a:p>
        </p:txBody>
      </p:sp>
      <p:pic>
        <p:nvPicPr>
          <p:cNvPr id="11" name="Picture 10" descr="directo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переключается между назначенными городами;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приглашает администраторов, кураторов и педагогов;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отзывает роли и настраивает уведомления;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заказы, остатки и начисления.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Данные ограничены назначенными филиалами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Один директор может работать с несколькими городами, не получая доступа к чужим партнерам.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Партнеры, города и общий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64792"/>
            <a:ext cx="662940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64792"/>
            <a:ext cx="662940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28800"/>
            <a:ext cx="6355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Интерфейс роли: суперадминистратор</a:t>
            </a:r>
          </a:p>
        </p:txBody>
      </p:sp>
      <p:pic>
        <p:nvPicPr>
          <p:cNvPr id="11" name="Picture 10" descr="superadmin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870" y="2176272"/>
            <a:ext cx="6393484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6640" y="178308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доступно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7424927" y="228600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6096" y="2212848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создает партнеров и города;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7424927" y="281635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6096" y="2743200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назначает директоров на несколько филиалов;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7424927" y="3346704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6096" y="3273552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переключает рабочий город вручную;</a:t>
            </a:r>
          </a:p>
        </p:txBody>
      </p:sp>
      <p:sp>
        <p:nvSpPr>
          <p:cNvPr id="19" name="Rectangle 18"/>
          <p:cNvSpPr/>
          <p:nvPr/>
        </p:nvSpPr>
        <p:spPr>
          <a:xfrm rot="2700000">
            <a:off x="7424927" y="387705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6096" y="3803904"/>
            <a:ext cx="3776472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21172F"/>
                </a:solidFill>
                <a:latin typeface="Arial"/>
              </a:rPr>
              <a:t>контролирует изоляцию данных и ключевые операции.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5120640"/>
            <a:ext cx="425196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06640" y="5120640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7808" y="5248655"/>
            <a:ext cx="39227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Рабочий город нужно проверять перед изменением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7808" y="5541264"/>
            <a:ext cx="392277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Товары, ученики, склады и сотрудники относятся к выбранному филиалу.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АСТРОКОИНЫ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Начисления, баланс и контроль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Как начисляются AC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отмечает учеников;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выбирает настроенную причину и сумму;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может указать свою причину и количество;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подарок 50 AC начисляется в день рождения.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Что контролирует школа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историю каждой операции;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отчет по периоду, преподавателю и группе;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ручные корректировки с причиной;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AC при отмене заказа.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Правила настраиваются для каждого города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Директор и администратор связывают типовые причины с фиксированными суммами.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МАГАЗИН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Физические и цифровые награды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Каталог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Категории, поиск, сортировка, наличие, избранное и фотографии.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Корзина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Количество, итоговая стоимость и остаток баланса после покупки.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Физический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Остатки задаются по складам прямо в карточке товара.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Цифровой товар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Администратор загружает уникальные коды вместо складских остатков.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Автовыдача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Свободный код закрепляется за заказом и больше не используется.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Импорт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Каталог можно массово заполнить через подготовленный XLSX-шаблон.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Покупатель не выбирает склад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определяет сотрудник при обработке заказа; цифровой товар выдается без склада.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ЗАКАЗЫ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Пять этапов физического заказа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883664"/>
            <a:ext cx="2057400" cy="252374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03503" y="2066543"/>
            <a:ext cx="420624" cy="420624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Зарезервирован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Заказ создан, склад не назначен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1883664"/>
            <a:ext cx="2057400" cy="252374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35224" y="2066543"/>
            <a:ext cx="420624" cy="420624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Ожидает доставки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Склад выбран, товар собирают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0235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26694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694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6694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 площадке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694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Комплект доставлен в филиал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8718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34071" y="1883664"/>
            <a:ext cx="2057400" cy="252374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598663" y="2066543"/>
            <a:ext cx="420624" cy="420624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8663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8663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У преподавателя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8663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Педагог принял комплект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18903" y="2788920"/>
            <a:ext cx="21945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E687D"/>
                </a:solidFill>
                <a:latin typeface="Arial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65792" y="1883664"/>
            <a:ext cx="2057400" cy="252374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930384" y="2066543"/>
            <a:ext cx="420624" cy="420624"/>
          </a:xfrm>
          <a:prstGeom prst="round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0384" y="2121408"/>
            <a:ext cx="4206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4" y="2706624"/>
            <a:ext cx="17190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Получен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30384" y="3401568"/>
            <a:ext cx="171907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Награда передана ребенку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43584" y="4864608"/>
            <a:ext cx="9674352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43584" y="4864608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44752" y="4992624"/>
            <a:ext cx="9345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Статус меняется после фактического действия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44752" y="5285232"/>
            <a:ext cx="93451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Отменить заказ на любом этапе могут только администратор или директор; причина сохраняется, AC возвращаются ученику.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КОМПЛЕКТАЦИЯ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Как сотрудники обрабатывают физические заказы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755648"/>
            <a:ext cx="6263640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755648"/>
            <a:ext cx="6263640" cy="32004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819656"/>
            <a:ext cx="59893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Рабочее место заказов</a:t>
            </a:r>
          </a:p>
        </p:txBody>
      </p:sp>
      <p:pic>
        <p:nvPicPr>
          <p:cNvPr id="11" name="Picture 10" descr="admin-or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264855"/>
            <a:ext cx="6080758" cy="380047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59168" y="181051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81965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792224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Назначить склад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62088" y="2084831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Система подставляет основной склад сотрудника, но его можно изменить.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59168" y="275234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59168" y="2761487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8" y="2734056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Собрать товары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8" y="3026663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Одинаковые позиции объединены по складам в общий чек-лист.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59168" y="369417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9168" y="370332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2088" y="3675888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Распределить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3968496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Полностью собранные заказы группируются по площадкам и преподавателям.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59168" y="46360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9168" y="46451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8" y="4617720"/>
            <a:ext cx="3959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Подтвердить этап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4910328"/>
            <a:ext cx="3959352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Статусы меняются только после фактической доставки или передачи.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67728" y="5340096"/>
            <a:ext cx="4645152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67728" y="534009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68896" y="5468112"/>
            <a:ext cx="4315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Рабочие списки обновляются вручную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5760720"/>
            <a:ext cx="431596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Отмеченная позиция остается на месте до нажатия кнопки обновления этапа.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Ученики и импорт из Excel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Карточка ученика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ФИО, ID, город и группа;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преподаватель и родитель;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дата рождения и статус;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баланс, связи и история изменений.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Безопасный импорт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предпросмотр до записи;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автораспределение по колонке «Город»;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создание и обновление по идентификатору;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остановка при неизвестном городе или нехватке прав.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Поддерживаются шаблон и лист «Сделки»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Лишние листы и столбцы игнорируются; нужные города создаются заранее.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КОММУНИКАЦИИ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Автоматические уведомления и ручные рассылки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Новый заказ, отмена, доставка на площадку, передача преподавателю и выдача.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Остатки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Сотрудники получают предупреждения о малом количестве товаров и кодов.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Новый товар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Ученикам и родителям можно отправить карточку с прямым переходом.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Новости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Текст и изображение для выбранной аудитории.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Фильтры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Группы, площадки, онлайн, индивидуальные и очные занятия.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Настройки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Директор выбирает типы уведомлений для каждого сотрудника.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Внешняя доставка идет только через MAX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История рассылки показывает успешные, пропущенные и неудачные отправки.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ДОСТУП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Связи, выбытие и сохранение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3493008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Активная связь</a:t>
            </a:r>
          </a:p>
        </p:txBody>
      </p:sp>
      <p:sp>
        <p:nvSpPr>
          <p:cNvPr id="11" name="Rectangle 10"/>
          <p:cNvSpPr/>
          <p:nvPr/>
        </p:nvSpPr>
        <p:spPr>
          <a:xfrm rot="2700000">
            <a:off x="877824" y="2651760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родитель видит только связанных детей;</a:t>
            </a:r>
          </a:p>
        </p:txBody>
      </p:sp>
      <p:sp>
        <p:nvSpPr>
          <p:cNvPr id="13" name="Rectangle 12"/>
          <p:cNvSpPr/>
          <p:nvPr/>
        </p:nvSpPr>
        <p:spPr>
          <a:xfrm rot="2700000">
            <a:off x="877824" y="3145536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детский доступ зависит от родительской связи;</a:t>
            </a:r>
          </a:p>
        </p:txBody>
      </p:sp>
      <p:sp>
        <p:nvSpPr>
          <p:cNvPr id="15" name="Rectangle 14"/>
          <p:cNvSpPr/>
          <p:nvPr/>
        </p:nvSpPr>
        <p:spPr>
          <a:xfrm rot="2700000">
            <a:off x="877824" y="3639312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отзыв роли закрывает рабочие разделы;</a:t>
            </a:r>
          </a:p>
        </p:txBody>
      </p:sp>
      <p:sp>
        <p:nvSpPr>
          <p:cNvPr id="17" name="Rectangle 16"/>
          <p:cNvSpPr/>
          <p:nvPr/>
        </p:nvSpPr>
        <p:spPr>
          <a:xfrm rot="2700000">
            <a:off x="877824" y="4133087"/>
            <a:ext cx="91440" cy="91440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связь можно оформить заново с другой ролью.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1755648"/>
            <a:ext cx="5358384" cy="3493008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55648"/>
            <a:ext cx="64008" cy="349300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528" y="2011680"/>
            <a:ext cx="46634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1172F"/>
                </a:solidFill>
                <a:latin typeface="Arial"/>
              </a:rPr>
              <a:t>После выбытия</a:t>
            </a:r>
          </a:p>
        </p:txBody>
      </p:sp>
      <p:sp>
        <p:nvSpPr>
          <p:cNvPr id="22" name="Rectangle 21"/>
          <p:cNvSpPr/>
          <p:nvPr/>
        </p:nvSpPr>
        <p:spPr>
          <a:xfrm rot="2700000">
            <a:off x="6528816" y="2651760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3" y="2578608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баланс и история не удаляются;</a:t>
            </a:r>
          </a:p>
        </p:txBody>
      </p:sp>
      <p:sp>
        <p:nvSpPr>
          <p:cNvPr id="24" name="Rectangle 23"/>
          <p:cNvSpPr/>
          <p:nvPr/>
        </p:nvSpPr>
        <p:spPr>
          <a:xfrm rot="2700000">
            <a:off x="6528816" y="3145536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3" y="3072384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действует настраиваемый срок доступа;</a:t>
            </a:r>
          </a:p>
        </p:txBody>
      </p:sp>
      <p:sp>
        <p:nvSpPr>
          <p:cNvPr id="26" name="Rectangle 25"/>
          <p:cNvSpPr/>
          <p:nvPr/>
        </p:nvSpPr>
        <p:spPr>
          <a:xfrm rot="2700000">
            <a:off x="6528816" y="3639312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9983" y="3566160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директор задает период сезонной заморозки;</a:t>
            </a:r>
          </a:p>
        </p:txBody>
      </p:sp>
      <p:sp>
        <p:nvSpPr>
          <p:cNvPr id="28" name="Rectangle 27"/>
          <p:cNvSpPr/>
          <p:nvPr/>
        </p:nvSpPr>
        <p:spPr>
          <a:xfrm rot="2700000">
            <a:off x="6528816" y="4133087"/>
            <a:ext cx="91440" cy="91440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29983" y="4059935"/>
            <a:ext cx="4398264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1172F"/>
                </a:solidFill>
                <a:latin typeface="Arial"/>
              </a:rPr>
              <a:t>возврат к обучению восстанавливает прежние данные.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5431536"/>
            <a:ext cx="6446520" cy="932688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0360" y="5431536"/>
            <a:ext cx="54864" cy="932688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81528" y="5559552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Старые заказы остаются доступными сотрудникам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1528" y="5852160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Школа может завершить выдачу уже оформленных заказов даже после выбытия ученика.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ЕЖЕДНЕВНАЯ РАБОТА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Что делает каждая сторона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55648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55648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Ученик и родитель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Проверяют баланс, выбирают награды и следят за заказами.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7408" y="1755648"/>
            <a:ext cx="3456432" cy="1444752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1755648"/>
            <a:ext cx="64008" cy="1444752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Преподаватель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Начисляет AC, принимает комплект и подтверждает выдачу.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1755648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47888" y="1755648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67344" y="1920240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Куратор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2331720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Контролирует группы и отправляет целевые новости.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419856"/>
            <a:ext cx="3456432" cy="1444752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419856"/>
            <a:ext cx="64008" cy="1444752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Администратор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Ведет данные, товары, склады и полный путь заказа.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07408" y="3419856"/>
            <a:ext cx="3456432" cy="1444752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8" y="3419856"/>
            <a:ext cx="64008" cy="1444752"/>
          </a:xfrm>
          <a:prstGeom prst="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2686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Директор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686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Настраивает сотрудников, уведомления и контролирует филиалы.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47888" y="3419856"/>
            <a:ext cx="3456432" cy="1444752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47888" y="3419856"/>
            <a:ext cx="64008" cy="1444752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67344" y="3584448"/>
            <a:ext cx="30358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Суперадминистратор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995928"/>
            <a:ext cx="30358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E687D"/>
                </a:solidFill>
                <a:latin typeface="Arial"/>
              </a:rPr>
              <a:t>Развивает структуру партнеров и проверяет изоляцию городов.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0360" y="5413248"/>
            <a:ext cx="6446520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880360" y="541324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81528" y="5541264"/>
            <a:ext cx="611733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Работа строится по фактическим событиям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81528" y="5833872"/>
            <a:ext cx="61173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Баланс, остатки и статусы обновляются только после подтвержденного действия.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Презентация продукта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1F6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85216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5303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704088"/>
            <a:ext cx="1920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523036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Что дает готовый продукт</a:t>
            </a:r>
          </a:p>
        </p:txBody>
      </p:sp>
      <p:sp>
        <p:nvSpPr>
          <p:cNvPr id="6" name="Rectangle 5"/>
          <p:cNvSpPr/>
          <p:nvPr/>
        </p:nvSpPr>
        <p:spPr>
          <a:xfrm rot="2700000">
            <a:off x="713232" y="254203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единый учет астрокоинов и операций;</a:t>
            </a:r>
          </a:p>
        </p:txBody>
      </p:sp>
      <p:sp>
        <p:nvSpPr>
          <p:cNvPr id="8" name="Rectangle 7"/>
          <p:cNvSpPr/>
          <p:nvPr/>
        </p:nvSpPr>
        <p:spPr>
          <a:xfrm rot="2700000">
            <a:off x="713232" y="3063240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понятный магазин физических и цифровых наград;</a:t>
            </a:r>
          </a:p>
        </p:txBody>
      </p:sp>
      <p:sp>
        <p:nvSpPr>
          <p:cNvPr id="10" name="Rectangle 9"/>
          <p:cNvSpPr/>
          <p:nvPr/>
        </p:nvSpPr>
        <p:spPr>
          <a:xfrm rot="2700000">
            <a:off x="713232" y="3584448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511296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контролируемый путь заказа до ученика;</a:t>
            </a:r>
          </a:p>
        </p:txBody>
      </p:sp>
      <p:sp>
        <p:nvSpPr>
          <p:cNvPr id="12" name="Rectangle 11"/>
          <p:cNvSpPr/>
          <p:nvPr/>
        </p:nvSpPr>
        <p:spPr>
          <a:xfrm rot="2700000">
            <a:off x="713232" y="4105656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32504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раздельный доступ для семи ролей;</a:t>
            </a:r>
          </a:p>
        </p:txBody>
      </p:sp>
      <p:sp>
        <p:nvSpPr>
          <p:cNvPr id="14" name="Rectangle 13"/>
          <p:cNvSpPr/>
          <p:nvPr/>
        </p:nvSpPr>
        <p:spPr>
          <a:xfrm rot="2700000">
            <a:off x="713232" y="4626864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53712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управление несколькими городами и филиалами;</a:t>
            </a:r>
          </a:p>
        </p:txBody>
      </p:sp>
      <p:sp>
        <p:nvSpPr>
          <p:cNvPr id="16" name="Rectangle 15"/>
          <p:cNvSpPr/>
          <p:nvPr/>
        </p:nvSpPr>
        <p:spPr>
          <a:xfrm rot="2700000">
            <a:off x="713232" y="5148072"/>
            <a:ext cx="91440" cy="91440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74920"/>
            <a:ext cx="49651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FFFFFF"/>
                </a:solidFill>
                <a:latin typeface="Arial"/>
              </a:rPr>
              <a:t>массовая загрузка данных и рассылки.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37376" y="950976"/>
            <a:ext cx="5120640" cy="5065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353312"/>
            <a:ext cx="424281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1172F"/>
                </a:solidFill>
                <a:latin typeface="Arial"/>
              </a:rPr>
              <a:t>Для запуска филиала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39712" y="2048256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2057400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2" y="2029968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Создать город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2322576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Назначить директора и сотрудников.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39712" y="299923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39712" y="3008375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2980944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Импортировать учеников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632" y="3273551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Проверить распределение по городам.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39712" y="395020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9712" y="395935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42632" y="3931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Заполнить магазин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4224528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Добавить товары, склады и остатки.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39712" y="4901184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39712" y="4910328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2" y="4882896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Подключить семьи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2" y="5175504"/>
            <a:ext cx="37033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Отправить персональные ссылки и QR-коды.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91088" y="6291072"/>
            <a:ext cx="566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BB9E8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