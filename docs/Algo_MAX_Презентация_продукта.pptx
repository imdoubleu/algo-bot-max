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57216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" y="603504"/>
            <a:ext cx="566928" cy="566928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630936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749808"/>
            <a:ext cx="1965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901952"/>
            <a:ext cx="409651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Управление</a:t>
            </a:r>
            <a:br/>
            <a:r>
              <a:rPr sz="3200" b="1">
                <a:solidFill>
                  <a:srgbClr val="FFFFFF"/>
                </a:solidFill>
                <a:latin typeface="Arial"/>
              </a:rPr>
              <a:t>системой мотивации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3429000"/>
            <a:ext cx="391363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DFFC"/>
                </a:solidFill>
                <a:latin typeface="Arial"/>
              </a:rPr>
              <a:t>Роли, астрокоины, магазин, заказы и работа филиалов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5266944"/>
            <a:ext cx="2542032" cy="4572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94960"/>
            <a:ext cx="22677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172F"/>
                </a:solidFill>
                <a:latin typeface="Arial"/>
              </a:rPr>
              <a:t>Обзор и практическое обучение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016752"/>
            <a:ext cx="3383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Сентябрь 2026 · интерфейс 0.86.2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68112" y="548640"/>
            <a:ext cx="6217920" cy="576072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133856"/>
            <a:ext cx="5833872" cy="1944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33872" y="4901184"/>
            <a:ext cx="546811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33872" y="4901184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502920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Один рабочий процесс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321808"/>
            <a:ext cx="5138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 начисления AC до получения ребенком физической или цифровой награды.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СОСТАВ ПРОДУКТА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Один сервис вместо разрозненных таблиц и чатов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Ученик, родитель и сотрудник входят через MAX и видят только свою роль.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Астрокоины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Баланс, начисления, корректировки и прозрачная история операций.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Физические и цифровые награды, категории, поиск, корзина и избранное.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Резерв, склад, сборка, доставка, передача преподавателю и выдача.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Ученики, сотрудники, товары, склады, связи и импорт Excel.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Коммуникации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Рассылки по группам, площадкам и форматам занятий.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разделены по городам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работает только с назначенными ему ролями и городами и проверяет выбранный город перед изменением.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Шесть пользовательских ролей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Баланс, магазин, корзина, заказы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3736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173736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51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Дети, QR-коды, семейные заказы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73736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73736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0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Свои ученики, начисления, выдача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01568"/>
            <a:ext cx="3154680" cy="114300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401568"/>
            <a:ext cx="64008" cy="1143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3566160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3922776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Заказы, начисления, рассылки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401568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401568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1376" y="3566160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1376" y="3922776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Товары, склады, импорт, связи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401568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401568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0376" y="3566160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922776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Филиалы, сотрудники, настройки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089904"/>
            <a:ext cx="109910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B1F68"/>
                </a:solidFill>
                <a:latin typeface="Arial"/>
              </a:rPr>
              <a:t>Сотрудники видят магазин, но не имеют личного счета AC и не оформляют покупки.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ПОДКЛЮЧЕНИЕ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пользователь получает доступ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Школа готовит приглашение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родителя используется персональная ссылка, для сотрудника — одноразовое приглашение с ролью.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Пользователь открывает 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MAX подтверждает аккаунт и связывает его с нужным профилем.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Родитель открывает доступ ребенку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кабинете родителя создается персональный QR-код или ссылка ребенка.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Приложение проверяет права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Без активной связи или роли данные не открываются.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проверяется при входе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активность связи с MAX;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пользователя;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выбранный город;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доступ к ребенку или филиалу;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471830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4645152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выбывшего ученика.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Ссылки персональные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Их нельзя публиковать в открытом доступе или передавать посторонним.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Баланс, магазин и личные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ученик</a:t>
            </a:r>
          </a:p>
        </p:txBody>
      </p:sp>
      <p:pic>
        <p:nvPicPr>
          <p:cNvPr id="11" name="Picture 10" descr="student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свой баланс и историю AC;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выбирает товары и ведет корзину;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оформляет заказ на доступный баланс;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следит за статусом и открывает цифровой код.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только одного ученика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 не видит чужие профили, заказы, склады и административные функции.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Несколько детей в одном кабинете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родитель</a:t>
            </a:r>
          </a:p>
        </p:txBody>
      </p:sp>
      <p:pic>
        <p:nvPicPr>
          <p:cNvPr id="11" name="Picture 10" descr="parent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переключается между связанными детьми;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отдельный баланс каждого ребенка;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ведет раздельные корзины и заказы;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QR-коды и ссылки детского входа.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02936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Выбранный ребенок определяет все 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641848"/>
            <a:ext cx="39227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Баланс, корзина, история и получатель заказа меняются вместе с профилем ребенка.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Свои ученики, начисления и выдача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преподаватель</a:t>
            </a:r>
          </a:p>
        </p:txBody>
      </p:sp>
      <p:pic>
        <p:nvPicPr>
          <p:cNvPr id="11" name="Picture 10" descr="teacher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вводит ФИО как в LMS и автоматически находит группы;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показывает ученикам персональные QR-коды;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начисляет AC выбранным ученикам;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принимает и выдает заказы своих учеников.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Начисление одной операцией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отмечает учеников, выбирает причину и связанную сумму AC.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Координация учеников и сообщений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куратор</a:t>
            </a:r>
          </a:p>
        </p:txBody>
      </p:sp>
      <p:pic>
        <p:nvPicPr>
          <p:cNvPr id="11" name="Picture 10" descr="curator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работает с доступными группами и учениками;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просматривает заказы и начисления;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новости с текстом и изображением;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фильтрует аудиторию по группам и площадкам.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02936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Рассылка отправляется после проверки аудитории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641848"/>
            <a:ext cx="39227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Можно выбрать группы вручную либо использовать формат занятий и правила площадок.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Ежедневные операции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администратор</a:t>
            </a:r>
          </a:p>
        </p:txBody>
      </p:sp>
      <p:pic>
        <p:nvPicPr>
          <p:cNvPr id="11" name="Picture 10" descr="admin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склады и собирает заказы;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ведет товары, остатки и цифровые коды;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управляет учениками, связями и ролями сотрудников;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загружает данные и контролирует историю действий.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Все изменения фиксируются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Статусы, корректировки баланса, отмены и действия сотрудников остаются в истории.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Несколько филиалов и сотрудники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директор</a:t>
            </a:r>
          </a:p>
        </p:txBody>
      </p:sp>
      <p:pic>
        <p:nvPicPr>
          <p:cNvPr id="11" name="Picture 10" descr="director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переключается между назначенными городами;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приглашает администраторов, кураторов и педагогов;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отзывает роли и настраивает уведомления;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заказы, остатки и начисления.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02936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Данные ограничены назначенными филиалами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641848"/>
            <a:ext cx="39227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Один директор может работать с несколькими городами, не получая доступа к чужим партнерам.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АСТРОКОИНЫ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Начисления, баланс и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Как начисляются AC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отмечает учеников;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выбирает настроенную причину и сумму;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может указать свою причину и количество;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настраиваемая сумма начисляется в день рождения.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контролирует школа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историю каждой операции;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отчет по периоду, преподавателю и группе;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ручные корректировки с причиной;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возврат AC при отмене заказа.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1383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Правила настраиваются для каждого города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952744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Директор и администратор связывают типовые причины с фиксированными суммами.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Физические и цифровые награды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Каталог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Категории, поиск, сортировка, наличие, избранное и фотографии.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Количество, итоговая стоимость и остаток баланса после покупки.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Физический товар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Остатки задаются по складам, каталог фильтруется по складу.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Администратор загружает уникальные коды вместо складских остатков.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Автовыдача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Свободный код закрепляется за заказом и больше не используется.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Импорт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XLSX-шаблон принимает фото по прямой или облачной ссылке.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Покупатель не выбирает склад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определяет сотрудник при обработке заказа; цифровой товар выдается без склада.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Пять этапов физического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83664"/>
            <a:ext cx="2057400" cy="252374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3" y="2066543"/>
            <a:ext cx="420624" cy="420624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Зарезервирован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создан, склад не назначен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883664"/>
            <a:ext cx="2057400" cy="252374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35224" y="2066543"/>
            <a:ext cx="420624" cy="420624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Ожидает доставки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выбран, товар собирают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83664"/>
            <a:ext cx="2057400" cy="252374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площадке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Комплект доставлен в филиал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3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4071" y="1883664"/>
            <a:ext cx="2057400" cy="252374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98663" y="2066543"/>
            <a:ext cx="420624" cy="420624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 преподавателя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3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Педагог принял комплект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8903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1883664"/>
            <a:ext cx="2057400" cy="252374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038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Награда передана ребенку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43584" y="4864608"/>
            <a:ext cx="96743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43584" y="486460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44752" y="4946904"/>
            <a:ext cx="934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Статус меняется после фактического действия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44752" y="5385816"/>
            <a:ext cx="9345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Отменить заказ на любом этапе могут только администратор или директор; причина сохраняется, AC возвращаются ученику.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КОМПЛЕКТАЦИЯ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сотрудники обрабатывают физические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Рабочее место заказов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Система подставляет основной склад сотрудника, но его можно изменить.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Собрать товары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Одинаковые позиции объединены по складам в общий чек-лист.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Распределить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Полностью собранные заказы группируются по площадкам и преподавателям.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Подтвердить этап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Статусы меняются только после фактической доставки или передачи.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Рабочие списки обновляются вручную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Отмеченная позиция остается на месте до нажатия кнопки обновления этапа.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 и импорт из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ФИО, ID, город и группа;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и родитель;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дата рождения и статус;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баланс, связи и история изменений.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Безопасный импорт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предпросмотр до записи;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автораспределение по колонке «Город»;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создание и обновление по идентификатору;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остановка при неизвестном городе или нехватке прав.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1383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Поддерживаются шаблон и лист «Сделки»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952744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Лишние листы и столбцы игнорируются; нужные города создаются заранее.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КОММУНИКАЦИИ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Автоматические уведомления и ручные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Новый заказ, отмена, доставка на площадку, передача преподавателю и выдача.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Сотрудники получают предупреждения о малом количестве товаров и кодов.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Новый товар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Ученикам и родителям можно отправить карточку с прямым переходом.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Новости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Текст и изображение для выбранной аудитории.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Фильтры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Группы, площадки, онлайн, индивидуальные и очные занятия.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Настройки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Директор выбирает типы уведомлений для каждого сотрудника.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495544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Внешняя доставка идет только через MAX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934456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История рассылки показывает успешные, пропущенные и неудачные отправки.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Связи, выбытие и сохранение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Активная связь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родитель видит только связанных детей;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детский доступ зависит от родительской связи;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отзыв роли закрывает рабочие разделы;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связь можно оформить заново с другой ролью.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После выбытия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 и история не удаляются;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действует настраиваемый срок доступа;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директор задает период сезонной заморозки;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возврат к обучению восстанавливает прежние данные.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1383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Старые заказы остаются доступными сотрудникам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952744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Школа может завершить выдачу уже оформленных заказов даже после выбытия ученика.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ЕЖЕДНЕВНАЯ РАБОТА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делает каждая сторона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Проверяют баланс, выбирают награды и следят за заказами.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Начисляет AC, принимает комплект и подтверждает выдачу.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Контролирует группы и отправляет целевые новости.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Ведет данные, товары, склады и полный путь заказа.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Настраивает сотрудников, уведомления и контролирует филиалы.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81528" y="5495544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Работа строится по фактическим событиям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5934456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Баланс, остатки и статусы обновляются только после подтвержденного действия.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ПРАКТИКА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Кнопки и ежедневные действия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Короткие демонстрации основных операций: путь к разделу, точные нажатия, ожидаемый результат и исправление ошибки.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Покупка и отслеживание заказа.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QR-код ребенка и начисление AC.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Рассылки и выдача преподавателем.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Склад, сборка и распределение заказов.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Товары, импорт, сотрудники и города.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ВСЕ РОЛИ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переходить между разделами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Приложение -&gt; основное меню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компьютере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левое меню. Нажмите название раздела: «Главная», «Магазин», «Заказы» или другой доступный пункт.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телефоне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Основные разделы находятся в нижней панели. Нажмите «Еще», чтобы открыть остальные пункты своей роли.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Вернуться назад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Закройте карточку крестиком или нажмите кнопку «Назад», если она показана в форме.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Обновить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с круговыми стрелками рядом с балансом или в рабочей панели раздела.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Все роли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Открывается выбранный раздел без повторного входа. Активный пункт меню выделяется цветом.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раздел не появился, проверьте активную роль и город, затем обновите данные. Недоступные роли не показывают лишние пункты.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найти товар в магазине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запрос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поле «Найти товар» и введите часть названия. Крестик в поле очищает запрос.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категорию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подходящую быструю категорию. Кнопка «Все» возвращает полный каталог.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выдачу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сортировку: «Сначала популярные», «Сначала дешевле», «Сначала дороже» или «Сначала новые».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Сузьте список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 необходимости включите «В наличии» или нажмите «Избранное». На телефоне дополнительные параметры открываются кнопкой «Фильтры».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Ниже остаются только товары, подходящие под выбранные условия.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список пуст, очистите поиск, нажмите «Все» и отключите «В наличии» или «Избранное».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добавить товар и оформить заказ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Магазин -&gt; Корзина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карточке награды нажмите «В корзину». Для нескольких единиц измените количество в корзине.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корзину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плавающую кнопку «Открыть корзину» или пункт «Корзина» в меню.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получателя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сначала выбирает ребенка. Корзины детей разделены, баланс и заказ относятся к выбранному ребенку.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товары, количество, сумму списания и остаток на счете после покупки.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«Оформить заказ», затем «Подтвердить заказ».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AC списываются, физический заказ появляется как «Зарезервирован», а цифровой код выдается автоматически.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подтверждения удалите лишнюю позицию или измените количество. После оформления отмену выполняют администратор или директор.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следить за заказом и открыть цифровой 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«Зарезервированы», «Ожидают доставки», «На площадке», «У учителя», «Получены» или «Отменены».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«Подробнее» у нужного заказа.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историю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Читайте этапы сверху вниз: дата, состояние и фактическое действие сотрудника.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Скопируйте цифровой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цифровой награды откройте «Получены», затем карточку заказа и нажмите кнопку копирования рядом с кодом.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Пользователь видит текущее состояние, состав заказа и всю историю его движения.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заказ не найден, нажмите «Все», очистите поиск и обновите список круговой стрелкой.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дать ребенку доступ по QR-коду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 ребенка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строку с именем, если QR-код свернут.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Покажите код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 открывает камеру или сканер MAX и считывает QR-код со второго устройства.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Увеличьте изображение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на QR-код или «Увеличить», чтобы открыть яркий полноэкранный вариант.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другим способом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 картинку» либо «Скопировать ссылку» и отправьте ее ребенку лично.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MAX-аккаунт ребенка связывается только с выбранным учеником и получает доступ к его кабинету.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открывайте детскую ссылку в родительском MAX-аккаунте. При ошибочной связи обратитесь к администратору для отзыва и повторной привязки.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ПРЕПОДАВАТЕЛЬ, КУРАТОР, 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начислить AC выбранным ученикам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Отфильтруйте список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группу и при необходимости введите имя или фамилию ученика.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Поставьте отметки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чекбоксы рядом с нужными учениками. «Выбрать всех» отмечает видимый список, «Снять выбор» очищает его.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правило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связанную пару «Причина и сумма». Для нестандартного случая заполните «Своя причина» и «Своя сумма».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Начислите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 отмеченных учеников и нажмите «Начислить выбранным».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сообщения об успехе обновите список и сверьте новые балансы.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Преподаватель, куратор, администратор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Каждому выбранному ученику создается отдельная операция с преподавателем, причиной, суммой и временем.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начисление ошибочно, сразу нажмите «Отменить» в сообщении о последней операции. Позже корректировку делает администратор через карточку ученика.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принять и выдать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свои заказы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в «Заказы». Преподаватель видит только заказы своих учеников.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передачи комплекта преподавателю откройте заказ и нажмите «Учитель получил».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имя ученика, товары и количество до выдачи.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ребенку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выдачи нажмите «Передать ученику» и подтвердите действие.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переходит сначала в «У учителя», затем в «Получены» во всех доступных списках.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меняйте состояние заранее. Отменить ошибочный или проблемный заказ может только администратор либо директор.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подготовить и отправить новость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Рассылки -&gt; 2 Новость -&gt; 3 Проверка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новость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заголовок и текст. Кнопка «Добавить эмодзи» открывает набор допустимых символов.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изображение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фото» и выберите JPEG, PNG или WebP.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вид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Справа отображается макет сообщения. Нажмите «Далее», затем «Проверить аудиторию».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 или отправьте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«Сохранить» оставляет черновик. «Отправить новость» открывает финальное подтверждение.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количество получателей и нажмите «Отправить».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Новость уходит через MAX, а в истории сохраняются успешные, пропущенные и неудачные доставки.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отправки текст не редактируется. Для исправления создайте новую рассылку через действие «Повторить».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назначить склад заказам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очередь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вкладку «Назначить склад». Здесь находятся только зарезервированные физические заказы.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стрелку или «Подробнее», проверьте товар и доступные остатки.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строке каждого товара выберите склад списания. Основной склад сотрудника подставляется заранее, но его можно изменить.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«Подтвердить склады». Для массовой операции отметьте заказы чекбоксами и используйте общую кнопку.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получает состояние «Ожидает доставки», а товар резервируется на выбранном складе.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подтверждения смените склад в списке. После подтверждения используйте карточку заказа и административное действие, не правьте остаток вручную.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собрать товары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блок нужного склада. Одинаковые товары объединены, рядом указано общее количество.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Возьмите товар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Физически соберите указанное количество и только после этого поставьте чекбокс.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Продолжите список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Отметки служат чек-листом и не меняют состояние заказа сразу.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Обновите этап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завершения нажмите рабочую кнопку обновления списка, чтобы зафиксировать готовность и увидеть следующий набор.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видит краткий список без повторов и понимает, сколько единиц забрать с каждого склада.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Снимите чекбокс до обновления, если товар отмечен ошибочно. Не подтверждайте сборку при фактической нехватке товара.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распределить собранные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площадку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строку площадки, затем имя преподавателя. Показаны только полностью собранные заказы.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маршрут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ученика, преподавателя, товары и склад, с которого они были взяты.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Отметьте доставленные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доставки поставьте чекбоксы напротив заказов.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доставку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«Подтвердить доставку» и подтвердите количество заказов.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Заказы переходят в состояние «На площадке» и исчезают из списка распределения.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подтверждения снимите ошибочную отметку. Если площадка или преподаватель неверны, исправьте данные ученика до следующей операции.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создать физический товар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Товары и остатки -&gt; Добавить товар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фото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фото», выберите изображение и при необходимости используйте «Кадрировать».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статус, название, категорию, цену AC и краткое описание.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выдачу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поле «Способ выдачи» оставьте «Со склада».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Задайте наличие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блоке «Склады и остатки» отметьте склады и введите фактическое количество для каждого.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 товар».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Активный товар появляется в магазине, а наличие рассчитывается по выбранным складам.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товар не готов к продаже, выберите статус «Скрыт». Откройте «Редактировать», исправьте карточку и сохраните повторно.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импортировать товары с фотографиями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Товары и остатки -&gt; Массовый импорт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Раскройте «Массовый импорт» и нажмите «Скачать шаблон XLSX».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строки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 переименовывайте обязательные колонки. Для фото укажите прямую ссылку, общедоступную ссылку Яндекс Диска или Google Drive.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доступ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облачного файла включите просмотр по ссылке без входа в аккаунт.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файл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«Выбрать CSV или XLSX» и укажите подготовленный файл.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Импортируйте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«Импортировать» и дождитесь отчета по строкам.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Корректные товары создаются или обновляются, категории очищаются от лишних пробелов, а доступные фотографии сохраняются в карточках.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фото не появилось, откройте ссылку в приватном окне без авторизации. Исправьте доступ или ссылку и повторно импортируйте строку либо замените фото через «Редактировать».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отфильтровать товары по складу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Товары и остатки -&gt; Все склады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фильтр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список «Все склады» над каталогом товаров.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название нужного склада.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счетчик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Количество найденных товаров справа должно измениться.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строки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метаданных каждого показанного товара должно присутствовать название выбранного склада.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 каталоге остаются товары, имеющие остаток или складскую привязку к выбранному складу.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список пуст, выберите «Все склады», очистите поиск и фильтры статуса и категории. Затем проверьте склад в карточке товара.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загрузить учеников из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Импорт данных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«Скачать шаблон» и заполните только предусмотренные колонки.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состав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«Активные ученики» или «Выбывшие ученики» в зависимости от выгрузки.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Загрузите файл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XLSX и нажмите «Проверить файл». На этом этапе данные еще не записываются.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предпросмотр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строки, города, группы, преподавателей и распределение по филиалам.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Запустите импорт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«Импортировать N строк» только после успешной проверки.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Существующие ученики обновляются по идентификатору, новые создаются в указанном городе; лишние листы и колонки игнорируются.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неизвестном городе или ошибке прав импорт останавливается до записи. Исправьте файл или создайте город и повторите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пригласить сотрудника по уникальной ссылке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Сотрудники -&gt; Пригласить сотрудника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приглашение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«Пригласить сотрудника».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разрешенную роль: преподаватель, куратор, администратор или директор в зависимости от ваших прав.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ссылку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выбранный город и сформируйте одноразовое приглашение.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Скопируйте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«Скопировать ссылку» и отправьте ее сотруднику лично.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перехода сотрудник должен появиться в списке «Активные».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MAX-аккаунт человека сразу получает выбранную роль в конкретном городе.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Ссылка действует ограниченное время и один раз. Если ее открыл не тот человек, отзовите роль и создайте новое приглашение.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управлять ролями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Сотрудники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сотрудника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поиск по имени, MAX ID или роли. В списке показываются сотрудники хотя бы с одной активной ролью.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сообщения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«Уведомления», отметьте нужные типы и сохраните.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действия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с тремя точками в строке сотрудника.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роль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роль», выберите доступную роль и подтвердите. Роли появятся в одной карточке через запятую.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Отзовите роль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«Отозвать: &lt;роль&gt;» и подтвердите. Отозванная роль исчезнет из карточки; остальные активные роли сохранятся.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Одна карточка сотрудника содержит все его активные роли, а интерфейс объединяет административные права и рабочие возможности преподавателя или куратора.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Можно управлять только ролями, разрешенными вашими полномочиями в текущем городе. Не отзывайте последнюю управляющую роль без согласованной замены.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 И СОТРУДНИК С ДОПОЛНИТЕЛЬНОЙ РОЛЬЮ ПРЕПОДАВАТЕЛЯ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впервые связать ФИО преподавателя с группами 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Первый вход -&gt; Укажите фамилию и имя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подсказку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форме должно быть написано: «Введите имя и фамилию как в LMS.».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фамилию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Заполните поле «Фамилия» точно так же, как преподаватель указан в загруженных учебных данных.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имя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Заполните поле «Имя». Не используйте имя профиля MAX, если оно отличается от LMS.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Запустите поиск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 и найти группы». Дождитесь обновления главной страницы.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найденное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блок с количеством учеников и названиями найденных групп.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 и сотрудник с дополнительной ролью преподавателя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ФИО сохраняется в рабочем профиле, а группы и ученики с совпадающим преподавателем становятся доступны автоматически.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группы не найдены, проверьте порядок имени и фамилии и написание в LMS. Затем нажмите «Изменить ФИО» и повторите поиск.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настроить автоматическое начисление на день рождения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Начисления -&gt; Настроить причины -&gt; С днем рождения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настройки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«Настроить причины».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системную строку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Строка «С днем рождения» отмечена значком подарка и не имеет кнопки удаления.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сумму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нужное количество AC в поле суммы. Название причины остается неизменным.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«Сохранить» в закрепленной нижней части формы.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 день рождения активного ученика система один раз использует настроенную для города сумму и записывает операцию в историю AC.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видна кнопка удаления или название редактируется, не сохраняйте форму и сообщите об ошибке. Не создавайте вторую одноименную причину.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ПРЕПОДАВАТЕЛЬ, КУРАТОР, АДМИНИСТРАТОР И ДИРЕКТОР С РОЛЯМИ В НЕСКОЛЬКИХ ГОРОДАХ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переключить рабочий город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Верхняя панель -&gt; Город / партнер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список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текущий город в правой части верхней панели.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город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нужный филиал из списка назначенных вам городов.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Дождитесь обновления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название города в профиле и дождитесь загрузки раздела.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 изменения товаров, учеников или сотрудников убедитесь, что списки относятся к выбранному городу.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Преподаватель, куратор, администратор и директор с ролями в нескольких городах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рабочие разделы переключаются на выбранный город без смешивания данных филиалов.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нужного города нет, попросите директора или администратора проверить назначение роли именно в этом городе. Не создавайте дубликат города ради обхода списка.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F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85216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5303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04088"/>
            <a:ext cx="1920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52303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Что дает готовый продукт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713232" y="254203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единый учет астрокоинов и операций;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713232" y="306324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понятный магазин физических и цифровых наград;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713232" y="3584448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11296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контролируемый путь заказа до ученика;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713232" y="4105656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32504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раздельный доступ для шести ролей;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713232" y="4626864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53712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управление несколькими городами и филиалами;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713232" y="514807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массовая загрузка данных и рассылки.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37376" y="950976"/>
            <a:ext cx="5120640" cy="5065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1353312"/>
            <a:ext cx="4242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1172F"/>
                </a:solidFill>
                <a:latin typeface="Arial"/>
              </a:rPr>
              <a:t>Для запуска филиала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20482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20574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2632" y="2029968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Создать город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2" y="2322576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Назначить директора и сотрудников.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39712" y="29992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300837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2" y="2980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Импортировать учеников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2632" y="3273551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Проверить распределение по городам.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39712" y="39502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39593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2632" y="393192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Заполнить магазин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4224528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Добавить товары, склады и остатки.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39712" y="49011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39712" y="491032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2" y="4882896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Подключить семьи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2" y="5175504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Отправить персональные ссылки и QR-коды.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91088" y="6291072"/>
            <a:ext cx="566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