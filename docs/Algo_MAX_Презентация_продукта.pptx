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57216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216" y="603504"/>
            <a:ext cx="566928" cy="566928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630936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1172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749808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901952"/>
            <a:ext cx="4096512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Управление</a:t>
            </a:r>
            <a:br/>
            <a:r>
              <a:rPr sz="3200" b="1">
                <a:solidFill>
                  <a:srgbClr val="FFFFFF"/>
                </a:solidFill>
                <a:latin typeface="Arial"/>
              </a:rPr>
              <a:t>системой мотивации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3429000"/>
            <a:ext cx="39136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DFFC"/>
                </a:solidFill>
                <a:latin typeface="Arial"/>
              </a:rPr>
              <a:t>Роли, астрокоины, магазин, заказы и работа филиалов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5266944"/>
            <a:ext cx="2542032" cy="45720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394960"/>
            <a:ext cx="2267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172F"/>
                </a:solidFill>
                <a:latin typeface="Arial"/>
              </a:rPr>
              <a:t>Обзор и практическое обучение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0167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B9E8"/>
                </a:solidFill>
                <a:latin typeface="Arial"/>
              </a:rPr>
              <a:t>Август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8112" y="548640"/>
            <a:ext cx="6217920" cy="5760720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shboard-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1133856"/>
            <a:ext cx="5833872" cy="19446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833872" y="4901184"/>
            <a:ext cx="5468112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33872" y="4901184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5029200"/>
            <a:ext cx="5138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Один рабочий процесс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321808"/>
            <a:ext cx="5138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От начисления AC до получения ребенком физической или цифровой награды.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СОСТАВ ПРОДУКТА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Один сервис вместо разрозненных таблиц и чатов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Профили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Ученик, родитель и сотрудник входят через MAX и видят только свою роль.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3456432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Астрокоины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Баланс, начисления, корректировки и прозрачная история операций.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755648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755648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Магазин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Физические и цифровые награды, категории, поиск, корзина и избранное.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19856"/>
            <a:ext cx="3456432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Резерв, склад, сборка, доставка, передача преподавателю и выдача.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419856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419856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Управление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Ученики, сотрудники, товары, склады, связи и импорт Excel.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419856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Коммуникации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Рассылки по группам, площадкам и форматам занятий.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5541264"/>
            <a:ext cx="6117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Данные разделены по городам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583387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Директор работает только с назначенными ему филиалами и проверяет выбранный город перед изменением.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ДОСТУП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Шесть пользовательских ролей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3154680" cy="1143000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64008" cy="114300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901952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Ученик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258568"/>
            <a:ext cx="2724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Баланс, магазин, корзина, заказы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737360"/>
            <a:ext cx="3154680" cy="1143000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0" y="1737360"/>
            <a:ext cx="64008" cy="114300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1376" y="1901952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Родитель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2258568"/>
            <a:ext cx="2724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Дети, QR-коды, семейные заказы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737360"/>
            <a:ext cx="3154680" cy="1143000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60920" y="1737360"/>
            <a:ext cx="64008" cy="114300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6" y="1901952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Преподаватель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6" y="2258568"/>
            <a:ext cx="2724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Свои ученики, начисления, выдача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401568"/>
            <a:ext cx="3154680" cy="1143000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401568"/>
            <a:ext cx="64008" cy="114300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356616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Куратор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3922776"/>
            <a:ext cx="2724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Заказы, начисления, рассылки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3401568"/>
            <a:ext cx="3154680" cy="1143000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31920" y="3401568"/>
            <a:ext cx="64008" cy="114300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51376" y="356616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Администратор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1376" y="3922776"/>
            <a:ext cx="2724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Товары, склады, импорт, связи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3401568"/>
            <a:ext cx="3154680" cy="1143000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60920" y="3401568"/>
            <a:ext cx="64008" cy="114300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0376" y="356616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Директор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0376" y="3922776"/>
            <a:ext cx="2724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Филиалы, сотрудники, настройки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089904"/>
            <a:ext cx="10991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B1F68"/>
                </a:solidFill>
                <a:latin typeface="Arial"/>
              </a:rPr>
              <a:t>Сотрудники видят магазин, но не имеют личного счета AC и не оформляют покупки.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ПОДКЛЮЧЕНИЕ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пользователь получает доступ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Школа готовит приглашение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Для родителя используется персональная ссылка, для сотрудника — одноразовое приглашение с ролью.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3347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42615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6151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Пользователь открывает 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907791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MAX подтверждает аккаунт и связывает его с нужным профилем.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129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520439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9300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Родитель открывает доступ ребенку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85615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 кабинете родителя создается персональный QR-код или ссылка ребенка.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8912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9826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3708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Приложение проверяет права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66344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Без активной связи или роли данные не открываются.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Что проверяется при входе</a:t>
            </a:r>
          </a:p>
        </p:txBody>
      </p:sp>
      <p:sp>
        <p:nvSpPr>
          <p:cNvPr id="26" name="Rectangle 25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активность связи с MAX;</a:t>
            </a:r>
          </a:p>
        </p:txBody>
      </p:sp>
      <p:sp>
        <p:nvSpPr>
          <p:cNvPr id="28" name="Rectangle 27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роль пользователя;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выбранный город;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доступ к ребенку или филиалу;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4718304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4645152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срок доступа выбывшего ученика.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Ссылки персональные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Их нельзя публиковать в открытом доступе или передавать посторонним.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УЧЕНИК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Баланс, магазин и личные заказы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64792"/>
            <a:ext cx="662940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64792"/>
            <a:ext cx="662940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6355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Интерфейс роли: ученик</a:t>
            </a:r>
          </a:p>
        </p:txBody>
      </p:sp>
      <p:pic>
        <p:nvPicPr>
          <p:cNvPr id="11" name="Picture 10" descr="student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2176272"/>
            <a:ext cx="6393484" cy="3995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178308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доступно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7424927" y="22860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212848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видит свой баланс и историю AC;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7424927" y="281635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743200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выбирает товары и ведет корзину;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7424927" y="3346704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оформляет заказ на доступный баланс;</a:t>
            </a:r>
          </a:p>
        </p:txBody>
      </p:sp>
      <p:sp>
        <p:nvSpPr>
          <p:cNvPr id="19" name="Rectangle 18"/>
          <p:cNvSpPr/>
          <p:nvPr/>
        </p:nvSpPr>
        <p:spPr>
          <a:xfrm rot="2700000">
            <a:off x="7424927" y="387705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3803904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следит за статусом и открывает цифровой код.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20640"/>
            <a:ext cx="425196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20640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5248655"/>
            <a:ext cx="39227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Данные только одного ученика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541264"/>
            <a:ext cx="3922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Ученик не видит чужие профили, заказы, склады и административные функции.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Несколько детей в одном кабинете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64792"/>
            <a:ext cx="662940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64792"/>
            <a:ext cx="662940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6355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Интерфейс роли: родитель</a:t>
            </a:r>
          </a:p>
        </p:txBody>
      </p:sp>
      <p:pic>
        <p:nvPicPr>
          <p:cNvPr id="11" name="Picture 10" descr="parent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2176272"/>
            <a:ext cx="6393484" cy="3995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178308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доступно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7424927" y="22860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212848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переключается между связанными детьми;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7424927" y="281635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743200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видит отдельный баланс каждого ребенка;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7424927" y="3346704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ведет раздельные корзины и заказы;</a:t>
            </a:r>
          </a:p>
        </p:txBody>
      </p:sp>
      <p:sp>
        <p:nvSpPr>
          <p:cNvPr id="19" name="Rectangle 18"/>
          <p:cNvSpPr/>
          <p:nvPr/>
        </p:nvSpPr>
        <p:spPr>
          <a:xfrm rot="2700000">
            <a:off x="7424927" y="387705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3803904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создает QR-коды и ссылки детского входа.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20640"/>
            <a:ext cx="425196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20640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5202936"/>
            <a:ext cx="3922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Выбранный ребенок определяет все данные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641848"/>
            <a:ext cx="39227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Баланс, корзина, история и получатель заказа меняются вместе с профилем ребенка.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Свои ученики, начисления и выдача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64792"/>
            <a:ext cx="662940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64792"/>
            <a:ext cx="662940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6355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Интерфейс роли: преподаватель</a:t>
            </a:r>
          </a:p>
        </p:txBody>
      </p:sp>
      <p:pic>
        <p:nvPicPr>
          <p:cNvPr id="11" name="Picture 10" descr="teacher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86" y="2176272"/>
            <a:ext cx="5783051" cy="3995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178308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доступно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7424927" y="22860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212848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видит только назначенные группы;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7424927" y="281635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743200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показывает ученикам персональные QR-коды;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7424927" y="3346704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начисляет AC выбранным ученикам;</a:t>
            </a:r>
          </a:p>
        </p:txBody>
      </p:sp>
      <p:sp>
        <p:nvSpPr>
          <p:cNvPr id="19" name="Rectangle 18"/>
          <p:cNvSpPr/>
          <p:nvPr/>
        </p:nvSpPr>
        <p:spPr>
          <a:xfrm rot="2700000">
            <a:off x="7424927" y="387705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3803904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принимает и выдает заказы своих учеников.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20640"/>
            <a:ext cx="425196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20640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5248655"/>
            <a:ext cx="39227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Начисление одной операцией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541264"/>
            <a:ext cx="3922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Преподаватель отмечает учеников, выбирает причину и связанную сумму AC.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КУРАТОР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Координация учеников и сообщений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64792"/>
            <a:ext cx="662940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64792"/>
            <a:ext cx="662940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6355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Интерфейс роли: куратор</a:t>
            </a:r>
          </a:p>
        </p:txBody>
      </p:sp>
      <p:pic>
        <p:nvPicPr>
          <p:cNvPr id="11" name="Picture 10" descr="curator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2176272"/>
            <a:ext cx="6393484" cy="3995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178308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доступно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7424927" y="22860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212848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работает с доступными группами и учениками;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7424927" y="281635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743200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просматривает заказы и начисления;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7424927" y="3346704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создает новости с текстом и изображением;</a:t>
            </a:r>
          </a:p>
        </p:txBody>
      </p:sp>
      <p:sp>
        <p:nvSpPr>
          <p:cNvPr id="19" name="Rectangle 18"/>
          <p:cNvSpPr/>
          <p:nvPr/>
        </p:nvSpPr>
        <p:spPr>
          <a:xfrm rot="2700000">
            <a:off x="7424927" y="387705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3803904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фильтрует аудиторию по группам и площадкам.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20640"/>
            <a:ext cx="425196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20640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5202936"/>
            <a:ext cx="3922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Рассылка отправляется после проверки аудитории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641848"/>
            <a:ext cx="39227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Можно выбрать группы вручную либо использовать формат занятий и правила площадок.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АДМИНИСТРАТОР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Ежедневные операции филиала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64792"/>
            <a:ext cx="662940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64792"/>
            <a:ext cx="662940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6355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Интерфейс роли: администратор</a:t>
            </a:r>
          </a:p>
        </p:txBody>
      </p:sp>
      <p:pic>
        <p:nvPicPr>
          <p:cNvPr id="11" name="Picture 10" descr="admin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2176272"/>
            <a:ext cx="6393484" cy="3995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178308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доступно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7424927" y="22860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212848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назначает склады и собирает заказы;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7424927" y="281635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743200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ведет товары, остатки и цифровые коды;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7424927" y="3346704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управляет учениками, связями и сотрудниками;</a:t>
            </a:r>
          </a:p>
        </p:txBody>
      </p:sp>
      <p:sp>
        <p:nvSpPr>
          <p:cNvPr id="19" name="Rectangle 18"/>
          <p:cNvSpPr/>
          <p:nvPr/>
        </p:nvSpPr>
        <p:spPr>
          <a:xfrm rot="2700000">
            <a:off x="7424927" y="387705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3803904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загружает данные и контролирует историю действий.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20640"/>
            <a:ext cx="425196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20640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5248655"/>
            <a:ext cx="39227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Все изменения фиксируются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541264"/>
            <a:ext cx="3922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Статусы, корректировки баланса, отмены и действия сотрудников остаются в истории.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ДИРЕКТОР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Несколько филиалов и сотрудники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64792"/>
            <a:ext cx="662940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64792"/>
            <a:ext cx="662940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6355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Интерфейс роли: директор</a:t>
            </a:r>
          </a:p>
        </p:txBody>
      </p:sp>
      <p:pic>
        <p:nvPicPr>
          <p:cNvPr id="11" name="Picture 10" descr="director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2176272"/>
            <a:ext cx="6393484" cy="3995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178308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доступно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7424927" y="22860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212848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переключается между назначенными городами;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7424927" y="281635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743200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приглашает администраторов, кураторов и педагогов;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7424927" y="3346704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отзывает роли и настраивает уведомления;</a:t>
            </a:r>
          </a:p>
        </p:txBody>
      </p:sp>
      <p:sp>
        <p:nvSpPr>
          <p:cNvPr id="19" name="Rectangle 18"/>
          <p:cNvSpPr/>
          <p:nvPr/>
        </p:nvSpPr>
        <p:spPr>
          <a:xfrm rot="2700000">
            <a:off x="7424927" y="387705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3803904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контролирует заказы, остатки и начисления.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20640"/>
            <a:ext cx="425196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20640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5202936"/>
            <a:ext cx="3922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Данные ограничены назначенными филиалами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641848"/>
            <a:ext cx="39227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Один директор может работать с несколькими городами, не получая доступа к чужим партнерам.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АСТРОКОИНЫ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Начисления, баланс и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5358384" cy="3493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3493008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116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Как начисляются AC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877824" y="265176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578608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преподаватель отмечает учеников;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877824" y="314553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072384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выбирает настроенную причину и сумму;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877824" y="363931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566160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может указать свою причину и количество;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877824" y="4133087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059935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подарок 50 AC начисляется в день рождения.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55648"/>
            <a:ext cx="5358384" cy="3493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55648"/>
            <a:ext cx="64008" cy="349300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0116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контролирует школа</a:t>
            </a:r>
          </a:p>
        </p:txBody>
      </p:sp>
      <p:sp>
        <p:nvSpPr>
          <p:cNvPr id="22" name="Rectangle 21"/>
          <p:cNvSpPr/>
          <p:nvPr/>
        </p:nvSpPr>
        <p:spPr>
          <a:xfrm rot="2700000">
            <a:off x="6528816" y="265176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3" y="2578608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историю каждой операции;</a:t>
            </a:r>
          </a:p>
        </p:txBody>
      </p:sp>
      <p:sp>
        <p:nvSpPr>
          <p:cNvPr id="24" name="Rectangle 23"/>
          <p:cNvSpPr/>
          <p:nvPr/>
        </p:nvSpPr>
        <p:spPr>
          <a:xfrm rot="2700000">
            <a:off x="6528816" y="314553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3" y="3072384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отчет по периоду, преподавателю и группе;</a:t>
            </a:r>
          </a:p>
        </p:txBody>
      </p:sp>
      <p:sp>
        <p:nvSpPr>
          <p:cNvPr id="26" name="Rectangle 25"/>
          <p:cNvSpPr/>
          <p:nvPr/>
        </p:nvSpPr>
        <p:spPr>
          <a:xfrm rot="2700000">
            <a:off x="6528816" y="36393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3" y="3566160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ручные корректировки с причиной;</a:t>
            </a:r>
          </a:p>
        </p:txBody>
      </p:sp>
      <p:sp>
        <p:nvSpPr>
          <p:cNvPr id="28" name="Rectangle 27"/>
          <p:cNvSpPr/>
          <p:nvPr/>
        </p:nvSpPr>
        <p:spPr>
          <a:xfrm rot="2700000">
            <a:off x="6528816" y="4133087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3" y="4059935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возврат AC при отмене заказа.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5431536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360" y="5431536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1528" y="551383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Правила настраиваются для каждого города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8" y="5952744"/>
            <a:ext cx="6117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Директор и администратор связывают типовые причины с фиксированными суммами.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Физические и цифровые награды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Каталог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Категории, поиск, сортировка, наличие, избранное и фотографии.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3456432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Корзина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Количество, итоговая стоимость и остаток баланса после покупки.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755648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755648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Физический товар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Остатки задаются по складам прямо в карточке товара.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19856"/>
            <a:ext cx="3456432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Цифровой товар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Администратор загружает уникальные коды вместо складских остатков.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419856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419856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Автовыдача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Свободный код закрепляется за заказом и больше не используется.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419856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Импорт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Каталог можно массово заполнить через подготовленный XLSX-шаблон.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5541264"/>
            <a:ext cx="6117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Покупатель не выбирает склад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583387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Склад определяет сотрудник при обработке заказа; цифровой товар выдается без склада.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ЗАКАЗЫ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Пять этапов физического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883664"/>
            <a:ext cx="2057400" cy="252374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3" y="2066543"/>
            <a:ext cx="420624" cy="420624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12140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2706624"/>
            <a:ext cx="1719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Зарезервирован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3" y="3401568"/>
            <a:ext cx="17190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Заказ создан, склад не назначен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2788920"/>
            <a:ext cx="2194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687D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1883664"/>
            <a:ext cx="2057400" cy="252374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35224" y="2066543"/>
            <a:ext cx="420624" cy="420624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4" y="212140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706624"/>
            <a:ext cx="1719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Ожидает доставки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3401568"/>
            <a:ext cx="17190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Склад выбран, товар собирают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788920"/>
            <a:ext cx="2194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687D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02352" y="1883664"/>
            <a:ext cx="2057400" cy="252374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66944" y="2066543"/>
            <a:ext cx="420624" cy="420624"/>
          </a:xfrm>
          <a:prstGeom prst="round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212140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706624"/>
            <a:ext cx="1719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 площадке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3401568"/>
            <a:ext cx="17190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Комплект доставлен в филиал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3" y="2788920"/>
            <a:ext cx="2194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687D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34071" y="1883664"/>
            <a:ext cx="2057400" cy="252374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98663" y="2066543"/>
            <a:ext cx="420624" cy="420624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8663" y="212140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8663" y="2706624"/>
            <a:ext cx="1719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У преподавателя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3" y="3401568"/>
            <a:ext cx="17190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Педагог принял комплект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8903" y="2788920"/>
            <a:ext cx="2194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687D"/>
                </a:solidFill>
                <a:latin typeface="Arial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65792" y="1883664"/>
            <a:ext cx="2057400" cy="252374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30384" y="2066543"/>
            <a:ext cx="420624" cy="420624"/>
          </a:xfrm>
          <a:prstGeom prst="round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0384" y="212140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2706624"/>
            <a:ext cx="1719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Получен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3401568"/>
            <a:ext cx="17190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Награда передана ребенку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43584" y="4864608"/>
            <a:ext cx="9674352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43584" y="4864608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44752" y="4946904"/>
            <a:ext cx="934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Статус меняется после фактического действия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4752" y="5385816"/>
            <a:ext cx="9345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Отменить заказ на любом этапе могут только администратор или директор; причина сохраняется, AC возвращаются ученику.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КОМПЛЕКТАЦИЯ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сотрудники обрабатывают физические заказы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55648"/>
            <a:ext cx="626364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55648"/>
            <a:ext cx="626364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19656"/>
            <a:ext cx="5989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Рабочее место заказов</a:t>
            </a:r>
          </a:p>
        </p:txBody>
      </p:sp>
      <p:pic>
        <p:nvPicPr>
          <p:cNvPr id="11" name="Picture 10" descr="admin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264855"/>
            <a:ext cx="6080758" cy="380047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059168" y="18105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18196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179222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084831"/>
            <a:ext cx="39593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Система подставляет основной склад сотрудника, но его можно изменить.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59168" y="275234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7614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2734056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Собрать товары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3026663"/>
            <a:ext cx="39593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Одинаковые позиции объединены по складам в общий чек-лист.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9168" y="369417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370332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36758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Распределить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3968496"/>
            <a:ext cx="39593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Полностью собранные заказы группируются по площадкам и преподавателям.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59168" y="463600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9168" y="464515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4617720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Подтвердить этап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4910328"/>
            <a:ext cx="39593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Статусы меняются только после фактической доставки или передачи.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5340096"/>
            <a:ext cx="4645152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7728" y="534009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68896" y="5468112"/>
            <a:ext cx="4315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Рабочие списки обновляются вручную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5760720"/>
            <a:ext cx="43159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Отмеченная позиция остается на месте до нажатия кнопки обновления этапа.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Ученики и импорт из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5358384" cy="3493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3493008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116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Карточка ученика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877824" y="265176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578608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ФИО, ID, город и группа;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877824" y="314553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072384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преподаватель и родитель;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877824" y="363931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566160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дата рождения и статус;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877824" y="4133087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059935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баланс, связи и история изменений.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55648"/>
            <a:ext cx="5358384" cy="3493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55648"/>
            <a:ext cx="64008" cy="349300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0116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Безопасный импорт</a:t>
            </a:r>
          </a:p>
        </p:txBody>
      </p:sp>
      <p:sp>
        <p:nvSpPr>
          <p:cNvPr id="22" name="Rectangle 21"/>
          <p:cNvSpPr/>
          <p:nvPr/>
        </p:nvSpPr>
        <p:spPr>
          <a:xfrm rot="2700000">
            <a:off x="6528816" y="265176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3" y="2578608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предпросмотр до записи;</a:t>
            </a:r>
          </a:p>
        </p:txBody>
      </p:sp>
      <p:sp>
        <p:nvSpPr>
          <p:cNvPr id="24" name="Rectangle 23"/>
          <p:cNvSpPr/>
          <p:nvPr/>
        </p:nvSpPr>
        <p:spPr>
          <a:xfrm rot="2700000">
            <a:off x="6528816" y="314553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3" y="3072384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автораспределение по колонке «Город»;</a:t>
            </a:r>
          </a:p>
        </p:txBody>
      </p:sp>
      <p:sp>
        <p:nvSpPr>
          <p:cNvPr id="26" name="Rectangle 25"/>
          <p:cNvSpPr/>
          <p:nvPr/>
        </p:nvSpPr>
        <p:spPr>
          <a:xfrm rot="2700000">
            <a:off x="6528816" y="36393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3" y="3566160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создание и обновление по идентификатору;</a:t>
            </a:r>
          </a:p>
        </p:txBody>
      </p:sp>
      <p:sp>
        <p:nvSpPr>
          <p:cNvPr id="28" name="Rectangle 27"/>
          <p:cNvSpPr/>
          <p:nvPr/>
        </p:nvSpPr>
        <p:spPr>
          <a:xfrm rot="2700000">
            <a:off x="6528816" y="4133087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3" y="4059935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остановка при неизвестном городе или нехватке прав.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5431536"/>
            <a:ext cx="64465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360" y="543153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1528" y="551383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Поддерживаются шаблон и лист «Сделки»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8" y="5952744"/>
            <a:ext cx="6117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Лишние листы и столбцы игнорируются; нужные города создаются заранее.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КОММУНИКАЦИИ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Автоматические уведомления и ручные рассылки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Новый заказ, отмена, доставка на площадку, передача преподавателю и выдача.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3456432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Остатки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Сотрудники получают предупреждения о малом количестве товаров и кодов.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755648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755648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Новый товар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Ученикам и родителям можно отправить карточку с прямым переходом.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19856"/>
            <a:ext cx="3456432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Новости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Текст и изображение для выбранной аудитории.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419856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419856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Фильтры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Группы, площадки, онлайн, индивидуальные и очные занятия.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419856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Настройки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Директор выбирает типы уведомлений для каждого сотрудника.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5495544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Внешняя доставка идет только через MAX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5934456"/>
            <a:ext cx="6117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История рассылки показывает успешные, пропущенные и неудачные отправки.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ДОСТУП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Связи, выбытие и сохранение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5358384" cy="3493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3493008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116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Активная связь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877824" y="265176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578608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родитель видит только связанных детей;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877824" y="314553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072384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детский доступ зависит от родительской связи;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877824" y="363931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566160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отзыв роли закрывает рабочие разделы;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877824" y="4133087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059935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связь можно оформить заново с другой ролью.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55648"/>
            <a:ext cx="5358384" cy="3493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55648"/>
            <a:ext cx="64008" cy="349300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0116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После выбытия</a:t>
            </a:r>
          </a:p>
        </p:txBody>
      </p:sp>
      <p:sp>
        <p:nvSpPr>
          <p:cNvPr id="22" name="Rectangle 21"/>
          <p:cNvSpPr/>
          <p:nvPr/>
        </p:nvSpPr>
        <p:spPr>
          <a:xfrm rot="2700000">
            <a:off x="6528816" y="265176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3" y="2578608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баланс и история не удаляются;</a:t>
            </a:r>
          </a:p>
        </p:txBody>
      </p:sp>
      <p:sp>
        <p:nvSpPr>
          <p:cNvPr id="24" name="Rectangle 23"/>
          <p:cNvSpPr/>
          <p:nvPr/>
        </p:nvSpPr>
        <p:spPr>
          <a:xfrm rot="2700000">
            <a:off x="6528816" y="314553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3" y="3072384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действует настраиваемый срок доступа;</a:t>
            </a:r>
          </a:p>
        </p:txBody>
      </p:sp>
      <p:sp>
        <p:nvSpPr>
          <p:cNvPr id="26" name="Rectangle 25"/>
          <p:cNvSpPr/>
          <p:nvPr/>
        </p:nvSpPr>
        <p:spPr>
          <a:xfrm rot="2700000">
            <a:off x="6528816" y="36393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3" y="3566160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директор задает период сезонной заморозки;</a:t>
            </a:r>
          </a:p>
        </p:txBody>
      </p:sp>
      <p:sp>
        <p:nvSpPr>
          <p:cNvPr id="28" name="Rectangle 27"/>
          <p:cNvSpPr/>
          <p:nvPr/>
        </p:nvSpPr>
        <p:spPr>
          <a:xfrm rot="2700000">
            <a:off x="6528816" y="4133087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3" y="4059935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возврат к обучению восстанавливает прежние данные.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5431536"/>
            <a:ext cx="64465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360" y="543153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1528" y="551383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Старые заказы остаются доступными сотрудникам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8" y="5952744"/>
            <a:ext cx="6117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Школа может завершить выдачу уже оформленных заказов даже после выбытия ученика.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ЕЖЕДНЕВНАЯ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Что делает каждая сторона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Ученик и родитель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Проверяют баланс, выбирают награды и следят за заказами.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3456432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Преподаватель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Начисляет AC, принимает комплект и подтверждает выдачу.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755648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755648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Куратор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Контролирует группы и отправляет целевые новости.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19856"/>
            <a:ext cx="3456432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Администратор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Ведет данные, товары, склады и полный путь заказа.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419856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419856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Директор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Настраивает сотрудников, уведомления и контролирует филиалы.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81528" y="5495544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Работа строится по фактическим событиям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81528" y="5934456"/>
            <a:ext cx="6117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Баланс, остатки и статусы обновляются только после подтвержденного действия.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ПРАКТИКА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3456432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Кнопки и ежедневные действия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17520"/>
            <a:ext cx="3127248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Короткие демонстрации основных операций: путь к разделу, точные нажатия, ожидаемый результат и исправление ошибки.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4476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736592" y="566928"/>
            <a:ext cx="6931152" cy="574243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8928" y="1005840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В этом разделе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5166360" y="173736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7528" y="166420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Покупка и отслеживание заказа.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5166360" y="237744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230428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QR-код ребенка и начисление AC.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5166360" y="301752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94436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Рассылки и выдача преподавателем.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5166360" y="36576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358444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Склад, сборка и распределение заказов.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5166360" y="429768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8" y="422452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Товары, импорт, сотрудники и города.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ВСЕ РОЛИ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переходить между разделами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Приложение -&gt; основное меню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 компьютере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Используйте левое меню. Нажмите название раздела: «Главная», «Магазин», «Заказы» или другой доступный пункт.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7238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815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4096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 телефоне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6703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Основные разделы находятся в нижней панели. Нажмите «Еще», чтобы открыть остальные пункты своей роли.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7705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8620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876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Вернуться назад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5137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Закройте карточку крестиком или нажмите кнопку «Назад», если она показана в форме.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817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908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63440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Обновить данные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56048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кнопку с круговыми стрелками рядом с балансом или в рабочей панели раздела.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Все роли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Открывается выбранный раздел без повторного входа. Активный пункт меню выделяется цветом.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Если раздел не появился, проверьте активную роль и город, затем обновите данные. Недоступные роли не показывают лишние пункты.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УЧЕНИК И 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найти товар в магазине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Магазин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Введите запрос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поле «Найти товар» и введите часть названия. Крестик в поле очищает запрос.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7238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815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4096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Выберите категорию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6703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подходящую быструю категорию. Кнопка «Все» возвращает полный каталог.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7705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8620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876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Настройте выдачу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5137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Выберите сортировку: «Сначала популярные», «Сначала дешевле», «Сначала дороже» или «Сначала новые».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817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908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63440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Сузьте список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56048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При необходимости включите «В наличии» или нажмите «Избранное». На телефоне дополнительные параметры открываются кнопкой «Фильтры».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Ученик и родитель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Ниже остаются только товары, подходящие под выбранные условия.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Если список пуст, очистите поиск, нажмите «Все» и отключите «В наличии» или «Избранное».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УЧЕНИК И 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добавить товар и оформить заказ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Магазин -&gt; Корзина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Добавьте товар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 карточке награды нажмите «В корзину». Для нескольких единиц измените количество в корзине.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6872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7787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043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корзину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304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плавающую кнопку «Открыть корзину» или пункт «Корзина» в меню.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697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788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1452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получателя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44060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Родитель сначала выбирает ребенка. Корзины детей разделены, баланс и заказ относятся к выбранному ребенку.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70755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79899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52467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Сверьте итог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45075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Проверьте товары, количество, сумму списания и остаток на счете после покупки.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471769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480913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5453481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5746089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«Оформить заказ», затем «Подтвердить заказ».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Ученик и родитель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AC списываются, физический заказ появляется как «Зарезервирован», а цифровой код выдается автоматически.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До подтверждения удалите лишнюю позицию или измените количество. После оформления отмену выполняют администратор или директор.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УЧЕНИК И 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следить за заказом и открыть цифровой код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Выберите состояние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«Зарезервированы», «Ожидают доставки», «На площадке», «У учителя», «Получены» или «Отменены».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7238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815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4096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карточку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6703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«Подробнее» у нужного заказа.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7705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8620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876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историю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5137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Читайте этапы сверху вниз: дата, состояние и фактическое действие сотрудника.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817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908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63440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Скопируйте цифровой код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56048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Для цифровой награды откройте «Получены», затем карточку заказа и нажмите кнопку копирования рядом с кодом.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Ученик и родитель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Пользователь видит текущее состояние, состав заказа и всю историю его движения.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Если заказ не найден, нажмите «Все», очистите поиск и обновите список круговой стрелкой.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дать ребенку доступ по QR-коду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Главная -&gt; QR-коды детей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карточку ребенка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строку с именем, если QR-код свернут.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7238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815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4096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Покажите код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6703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Ребенок открывает камеру или сканер MAX и считывает QR-код со второго устройства.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7705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8620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876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Увеличьте изображение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5137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на QR-код или «Увеличить», чтобы открыть яркий полноэкранный вариант.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817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908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63440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Передайте другим способом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56048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«Сохранить картинку» либо «Скопировать ссылку» и отправьте ее ребенку лично.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Родитель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MAX-аккаунт ребенка связывается только с выбранным учеником и получает доступ к его кабинету.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Не открывайте детскую ссылку в родительском MAX-аккаунте. При ошибочной связи обратитесь к администратору для отзыва и повторной привязки.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ПРЕПОДАВАТЕЛЬ, КУРАТОР, АДМИНИСТРАТОР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начислить AC выбранным ученикам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Отфильтруйте список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Выберите группу и при необходимости введите имя или фамилию ученика.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6872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7787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043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Поставьте отметки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304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чекбоксы рядом с нужными учениками. «Выбрать всех» отмечает видимый список, «Снять выбор» очищает его.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697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788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1452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Выберите правило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44060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Укажите связанную пару «Причина и сумма». Для нестандартного случая заполните «Своя причина» и «Своя сумма».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70755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79899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52467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Начислите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45075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Проверьте количество отмеченных учеников и нажмите «Начислить выбранным».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471769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480913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5453481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результат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5746089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После сообщения об успехе обновите список и сверьте новые балансы.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Преподаватель, куратор, администратор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Каждому выбранному ученику создается отдельная операция с преподавателем, причиной, суммой и временем.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Если начисление ошибочно, сразу нажмите «Отменить» в сообщении о последней операции. Позже корректировку делает администратор через карточку ученика.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принять и выдать заказы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свои заказы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Перейдите в «Заказы». Преподаватель видит только заказы своих учеников.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7238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815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4096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Подтвердите получение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6703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После фактической передачи комплекта преподавателю откройте заказ и нажмите «Учитель получил».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7705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8620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876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Сверьте состав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5137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Проверьте имя ученика, товары и количество до выдачи.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817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908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63440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Передайте ребенку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56048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После фактической выдачи нажмите «Передать ученику» и подтвердите действие.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Преподаватель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Заказ переходит сначала в «У учителя», затем в «Получены» во всех доступных списках.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Не меняйте состояние заранее. Отменить ошибочный или проблемный заказ может только администратор либо директор.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КУРАТОР, АДМИНИСТРАТОР, ДИРЕКТОР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подготовить и отправить новость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Рассылки -&gt; 2 Новость -&gt; 3 Проверка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Заполните новость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Введите заголовок и текст. Кнопка «Добавить эмодзи» открывает набор допустимых символов.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6872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7787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043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Добавьте изображение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304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«Добавить фото» и выберите JPEG, PNG или WebP.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697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788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1452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вид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44060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Справа отображается макет сообщения. Нажмите «Далее», затем «Проверить аудиторию».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70755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79899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52467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Сохраните или отправьте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45075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«Сохранить» оставляет черновик. «Отправить новость» открывает финальное подтверждение.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471769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480913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5453481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5746089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Сверьте количество получателей и нажмите «Отправить».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Куратор, администратор, директор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Новость уходит через MAX, а в истории сохраняются успешные, пропущенные и неудачные доставки.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После отправки текст не редактируется. Для исправления создайте новую рассылку через действие «Повторить».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назначить склад заказам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Заказы -&gt; Назначить склад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очередь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вкладку «Назначить склад». Здесь находятся только зарезервированные физические заказы.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7238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815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4096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заказ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6703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стрелку или «Подробнее», проверьте товар и доступные остатки.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7705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8620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876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Выберите склад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5137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 строке каждого товара выберите склад списания. Основной склад сотрудника подставляется заранее, но его можно изменить.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817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908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63440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56048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«Подтвердить склады». Для массовой операции отметьте заказы чекбоксами и используйте общую кнопку.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Заказ получает состояние «Ожидает доставки», а товар резервируется на выбранном складе.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До подтверждения смените склад в списке. После подтверждения используйте карточку заказа и административное действие, не правьте остаток вручную.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собрать товары по складам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Заказы -&gt; Собрать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Выберите склад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Откройте блок нужного склада. Одинаковые товары объединены, рядом указано общее количество.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7238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815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4096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Возьмите товар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6703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Физически соберите указанное количество и только после этого поставьте чекбокс.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7705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8620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876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Продолжите список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5137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Отметки служат чек-листом и не меняют состояние заказа сразу.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817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908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63440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Обновите этап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56048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После завершения нажмите рабочую кнопку обновления списка, чтобы зафиксировать готовность и увидеть следующий набор.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Сотрудник видит краткий список без повторов и понимает, сколько единиц забрать с каждого склада.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Снимите чекбокс до обновления, если товар отмечен ошибочно. Не подтверждайте сборку при фактической нехватке товара.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распределить собранные заказы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Заказы -&gt; Распределить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площадку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строку площадки, затем имя преподавателя. Показаны только полностью собранные заказы.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7238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815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4096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Сверьте маршрут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6703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Проверьте ученика, преподавателя, товары и склад, с которого они были взяты.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7705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8620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876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Отметьте доставленные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5137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После фактической доставки поставьте чекбоксы напротив заказов.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817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908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63440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Подтвердите доставку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56048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«Подтвердить доставку» и подтвердите количество заказов.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Заказы переходят в состояние «На площадке» и исчезают из списка распределения.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До подтверждения снимите ошибочную отметку. Если площадка или преподаватель неверны, исправьте данные ученика до следующей операции.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создать физический товар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Управление -&gt; Товары и остатки -&gt; Добавить товар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Добавьте фото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«Добавить фото», выберите изображение и при необходимости используйте «Кадрировать».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6872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7787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043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Заполните карточку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304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Укажите статус, название, категорию, цену AC и краткое описание.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697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788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1452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Выберите выдачу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44060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 поле «Способ выдачи» оставьте «Со склада».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70755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79899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52467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Задайте наличие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45075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 блоке «Склады и остатки» отметьте склады и введите фактическое количество для каждого.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471769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480913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5453481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Сохраните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5746089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«Сохранить товар».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Активный товар появляется в магазине, а наличие рассчитывается по выбранным складам.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Если товар не готов к продаже, выберите статус «Скрыт». Откройте «Редактировать», исправьте карточку и сохраните повторно.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загрузить учеников из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Управление -&gt; Импорт 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Скачайте шаблон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«Скачать шаблон» и заполните только предусмотренные колонки.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6872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7787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043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Выберите состав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304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Укажите «Активные ученики» или «Выбывшие ученики» в зависимости от выгрузки.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697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788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1452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Загрузите файл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44060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Выберите XLSX и нажмите «Проверить файл». На этом этапе данные еще не записываются.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70755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79899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52467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Сверьте предпросмотр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45075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Проверьте строки, города, группы, преподавателей и распределение по филиалам.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471769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480913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5453481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Запустите импорт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5746089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«Импортировать N строк» только после успешной проверки.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Существующие ученики обновляются по идентификатору, новые создаются в указанном городе; лишние листы и колонки игнорируются.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При неизвестном городе или ошибке прав импорт останавливается до записи. Исправьте файл или создайте город и повторите проверку.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пригласить сотрудника по уникальной ссылке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33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Управление -&gt; Сотрудники -&gt; Пригласить сотрудника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Нажмите приглашение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Откройте «Пригласить сотрудника».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6872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7787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043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Выберите роль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304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Укажите разрешенную роль: преподаватель, куратор, администратор или директор в зависимости от ваших прав.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697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788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1452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Создайте ссылку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44060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Проверьте выбранный город и сформируйте одноразовое приглашение.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70755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79899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52467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Скопируйте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45075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«Скопировать ссылку» и отправьте ее сотруднику лично.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471769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480913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5453481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результат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5746089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После перехода сотрудник должен появиться в списке «Активные».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MAX-аккаунт человека сразу получает выбранную роль в конкретном городе.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Ссылка действует ограниченное время и один раз. Если ее открыл не тот человек, отзовите роль и создайте новое приглашение.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ДИРЕКТОР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переключить рабочий город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6419088" cy="43891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37360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Верхняя панель -&gt; Город / партнер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768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список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42032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текущий город в правой части верхней панели.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7238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815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54096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Выберите город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46703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нужный филиал из списка назначенных вам городов.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7705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8620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8768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Дождитесь обновления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51376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Проверьте название города в профиле и дождитесь загрузки раздела.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817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908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63440"/>
            <a:ext cx="5824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Сверьте данные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956048"/>
            <a:ext cx="58247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До изменения товаров, учеников или сотрудников убедитесь, что списки относятся к выбранному городу.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1664208"/>
            <a:ext cx="440740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192024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687D"/>
                </a:solidFill>
                <a:latin typeface="Arial"/>
              </a:rPr>
              <a:t>Кому доступно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240280"/>
            <a:ext cx="3794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Директор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1504" y="2962656"/>
            <a:ext cx="39319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1504" y="296265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3090672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Что произойдет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338328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Все рабочие разделы переключаются на выбранный город без смешивания данных филиалов.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1504" y="4242816"/>
            <a:ext cx="39319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424281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4370831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Если ошиблись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4663440"/>
            <a:ext cx="3602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Если нужного города нет, запросите назначение доступа у владельца системы. Не создавайте дубликат города ради обхода списка.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555955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После сохранения обновите список и проверьте результат.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Презентация продукта · Algo MAX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F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85216"/>
            <a:ext cx="530352" cy="530352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5303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1172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04088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52303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Что дает готовый продукт</a:t>
            </a:r>
          </a:p>
        </p:txBody>
      </p:sp>
      <p:sp>
        <p:nvSpPr>
          <p:cNvPr id="6" name="Rectangle 5"/>
          <p:cNvSpPr/>
          <p:nvPr/>
        </p:nvSpPr>
        <p:spPr>
          <a:xfrm rot="2700000">
            <a:off x="713232" y="2542032"/>
            <a:ext cx="91440" cy="9144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9651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единый учет астрокоинов и операций;</a:t>
            </a:r>
          </a:p>
        </p:txBody>
      </p:sp>
      <p:sp>
        <p:nvSpPr>
          <p:cNvPr id="8" name="Rectangle 7"/>
          <p:cNvSpPr/>
          <p:nvPr/>
        </p:nvSpPr>
        <p:spPr>
          <a:xfrm rot="2700000">
            <a:off x="713232" y="3063240"/>
            <a:ext cx="91440" cy="9144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90088"/>
            <a:ext cx="49651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понятный магазин физических и цифровых наград;</a:t>
            </a:r>
          </a:p>
        </p:txBody>
      </p:sp>
      <p:sp>
        <p:nvSpPr>
          <p:cNvPr id="10" name="Rectangle 9"/>
          <p:cNvSpPr/>
          <p:nvPr/>
        </p:nvSpPr>
        <p:spPr>
          <a:xfrm rot="2700000">
            <a:off x="713232" y="3584448"/>
            <a:ext cx="91440" cy="9144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11296"/>
            <a:ext cx="49651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контролируемый путь заказа до ученика;</a:t>
            </a:r>
          </a:p>
        </p:txBody>
      </p:sp>
      <p:sp>
        <p:nvSpPr>
          <p:cNvPr id="12" name="Rectangle 11"/>
          <p:cNvSpPr/>
          <p:nvPr/>
        </p:nvSpPr>
        <p:spPr>
          <a:xfrm rot="2700000">
            <a:off x="713232" y="4105656"/>
            <a:ext cx="91440" cy="9144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32504"/>
            <a:ext cx="49651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раздельный доступ для семи ролей;</a:t>
            </a:r>
          </a:p>
        </p:txBody>
      </p:sp>
      <p:sp>
        <p:nvSpPr>
          <p:cNvPr id="14" name="Rectangle 13"/>
          <p:cNvSpPr/>
          <p:nvPr/>
        </p:nvSpPr>
        <p:spPr>
          <a:xfrm rot="2700000">
            <a:off x="713232" y="4626864"/>
            <a:ext cx="91440" cy="9144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53712"/>
            <a:ext cx="49651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управление несколькими городами и филиалами;</a:t>
            </a:r>
          </a:p>
        </p:txBody>
      </p:sp>
      <p:sp>
        <p:nvSpPr>
          <p:cNvPr id="16" name="Rectangle 15"/>
          <p:cNvSpPr/>
          <p:nvPr/>
        </p:nvSpPr>
        <p:spPr>
          <a:xfrm rot="2700000">
            <a:off x="713232" y="5148072"/>
            <a:ext cx="91440" cy="9144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49651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массовая загрузка данных и рассылки.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37376" y="950976"/>
            <a:ext cx="5120640" cy="5065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1353312"/>
            <a:ext cx="4242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1172F"/>
                </a:solidFill>
                <a:latin typeface="Arial"/>
              </a:rPr>
              <a:t>Для запуска филиала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39712" y="204825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205740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2" y="2029968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Создать город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2" y="2322576"/>
            <a:ext cx="37033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Назначить директора и сотрудников.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29992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3008375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2632" y="29809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Импортировать учеников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2" y="3273551"/>
            <a:ext cx="37033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Проверить распределение по городам.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395020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395935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2" y="393192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Заполнить магазин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2" y="4224528"/>
            <a:ext cx="37033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Добавить товары, склады и остатки.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39712" y="490118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2" y="491032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632" y="4882896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Подключить семьи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2632" y="5175504"/>
            <a:ext cx="37033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Отправить персональные ссылки и QR-коды.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91088" y="6291072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B9E8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